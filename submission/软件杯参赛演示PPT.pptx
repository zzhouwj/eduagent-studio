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74320"/>
            <a:ext cx="1463040" cy="1463040"/>
          </a:xfrm>
          <a:prstGeom prst="oval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1463040"/>
            <a:ext cx="1097280" cy="1097280"/>
          </a:xfrm>
          <a:prstGeom prst="oval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2286000"/>
            <a:ext cx="731520" cy="731520"/>
          </a:xfrm>
          <a:prstGeom prst="oval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02920"/>
            <a:ext cx="914400" cy="9144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822960" cy="82296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4688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914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智学工坊</a:t>
            </a:r>
            <a:endParaRPr lang="en-US" sz="7200" dirty="0"/>
          </a:p>
        </p:txBody>
      </p:sp>
      <p:sp>
        <p:nvSpPr>
          <p:cNvPr id="12" name="Text 7"/>
          <p:cNvSpPr/>
          <p:nvPr/>
        </p:nvSpPr>
        <p:spPr>
          <a:xfrm>
            <a:off x="457200" y="1920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EduAgent Studio</a:t>
            </a:r>
            <a:endParaRPr lang="en-US" sz="4200" dirty="0"/>
          </a:p>
        </p:txBody>
      </p:sp>
      <p:sp>
        <p:nvSpPr>
          <p:cNvPr id="13" name="Text 8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基于大模型的个性化资源生成与学习多智能体系统开发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457200" y="3291840"/>
            <a:ext cx="5943600" cy="54864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57200" y="3291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第十五届中国软件杯大赛 A组赛题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57200" y="4343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科大讯飞股份有限公司 出题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486400" y="4343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赛题背景与问题定义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49808"/>
            <a:ext cx="3840480" cy="4023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38404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77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赛题核心要求（必做 P0）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构建个性化学习资源体系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开发智能学习多智能体系统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对话式学习画像自主构建（≥6维度）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多智能体协同生成资源（≥5种类型）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个性化学习路径规划和推送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流式输出与进度追踪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多模态内容卡片化展示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防幻觉与内容安全机制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生成资源绑定知识库依据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至少一门完整课程知识库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角色隔离与权限控制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平台治理与审计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777240"/>
            <a:ext cx="43891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777240"/>
            <a:ext cx="64008" cy="12344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96012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74920" y="868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痛点一：资源杂乱，难以精准匹配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74920" y="12161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学生面对海量课程资料，无法快速筛选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标准化教学无法满足个性化需求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缺乏智能化资源推荐机制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89120" y="2103120"/>
            <a:ext cx="43891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2103120"/>
            <a:ext cx="64008" cy="123444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2860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74920" y="2194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痛点二：缺乏个性化辅导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74920" y="25420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课堂集体讲授无法兼顾个体差异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学习过程缺少持续反馈和指导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Tutor资源有限，无法实时响应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389120" y="3429000"/>
            <a:ext cx="43891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89120" y="3429000"/>
            <a:ext cx="64008" cy="123444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6118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74920" y="3520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痛点三：效果不可持续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74920" y="386791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学习行为和效果缺乏追踪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资源推送缺乏动态调整机制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无法形成完整的学-测-评闭环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传统教学难以满足因材施教的需求 —— 中国软件杯 A3 赛题要求借助大模型突破这一瓶颈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EduAgent Studio — 学习智能体操作系统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不是单一资源生成工具，而是面向高校课程的「学习智能体操作系统」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914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6132" y="1078992"/>
            <a:ext cx="585216" cy="502920"/>
          </a:xfrm>
          <a:prstGeom prst="oval">
            <a:avLst/>
          </a:prstGeom>
          <a:solidFill>
            <a:srgbClr val="0891B2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" y="1124712"/>
            <a:ext cx="493776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课程知识空间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175564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上传资料·解析chunk·知识点绑定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87168" y="1005840"/>
            <a:ext cx="1965960" cy="914400"/>
          </a:xfrm>
          <a:prstGeom prst="rect">
            <a:avLst/>
          </a:prstGeom>
          <a:solidFill>
            <a:srgbClr val="1E3A5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7540" y="1078992"/>
            <a:ext cx="585216" cy="502920"/>
          </a:xfrm>
          <a:prstGeom prst="oval">
            <a:avLst/>
          </a:prstGeom>
          <a:solidFill>
            <a:srgbClr val="6366F1">
              <a:alpha val="2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260" y="1124712"/>
            <a:ext cx="493776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87168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学生画像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60320" y="175564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10维度动态·对话式构建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608576" y="1005840"/>
            <a:ext cx="1965960" cy="914400"/>
          </a:xfrm>
          <a:prstGeom prst="rect">
            <a:avLst/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98948" y="1078992"/>
            <a:ext cx="585216" cy="502920"/>
          </a:xfrm>
          <a:prstGeom prst="oval">
            <a:avLst/>
          </a:prstGeom>
          <a:solidFill>
            <a:srgbClr val="14B8A6">
              <a:alpha val="2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668" y="1124712"/>
            <a:ext cx="493776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08576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智能体编排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681728" y="175564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5智能体协作·SSE流式输出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729984" y="1005840"/>
            <a:ext cx="1965960" cy="9144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20356" y="1078992"/>
            <a:ext cx="585216" cy="502920"/>
          </a:xfrm>
          <a:prstGeom prst="oval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1124712"/>
            <a:ext cx="493776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29984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资源生成工厂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03136" y="175564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8类差异化渲染·证据绑定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365760" y="2029968"/>
            <a:ext cx="1965960" cy="914400"/>
          </a:xfrm>
          <a:prstGeom prst="rect">
            <a:avLst/>
          </a:prstGeom>
          <a:solidFill>
            <a:srgbClr val="1E3A5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56132" y="2103120"/>
            <a:ext cx="585216" cy="502920"/>
          </a:xfrm>
          <a:prstGeom prst="oval">
            <a:avLst/>
          </a:prstGeom>
          <a:solidFill>
            <a:srgbClr val="F97316">
              <a:alpha val="20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" y="2148840"/>
            <a:ext cx="493776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5760" y="25786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Copilot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38912" y="277977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结合画像·多模态答疑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2487168" y="2029968"/>
            <a:ext cx="1965960" cy="914400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177540" y="2103120"/>
            <a:ext cx="585216" cy="502920"/>
          </a:xfrm>
          <a:prstGeom prst="oval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3260" y="2148840"/>
            <a:ext cx="493776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487168" y="25786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效果闭环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560320" y="277977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反馈驱动·画像更新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4608576" y="2029968"/>
            <a:ext cx="1965960" cy="914400"/>
          </a:xfrm>
          <a:prstGeom prst="rect">
            <a:avLst/>
          </a:prstGeom>
          <a:solidFill>
            <a:srgbClr val="1E3A5F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298948" y="2103120"/>
            <a:ext cx="585216" cy="502920"/>
          </a:xfrm>
          <a:prstGeom prst="oval">
            <a:avLst/>
          </a:prstGeom>
          <a:solidFill>
            <a:srgbClr val="EC4899">
              <a:alpha val="20000"/>
            </a:srgbClr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4668" y="2148840"/>
            <a:ext cx="493776" cy="4114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608576" y="25786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治理审计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681728" y="277977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成本追踪·内容安全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365760" y="3063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核心业务链路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365760" y="3337560"/>
            <a:ext cx="9601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365760" y="3337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①上传资料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325880" y="33375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35"/>
          <p:cNvSpPr/>
          <p:nvPr/>
        </p:nvSpPr>
        <p:spPr>
          <a:xfrm>
            <a:off x="1435608" y="3337560"/>
            <a:ext cx="9601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1435608" y="3337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②建知识库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2395728" y="33375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38"/>
          <p:cNvSpPr/>
          <p:nvPr/>
        </p:nvSpPr>
        <p:spPr>
          <a:xfrm>
            <a:off x="2505456" y="3337560"/>
            <a:ext cx="9601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2505456" y="3337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③学生画像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3465576" y="33375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1"/>
          <p:cNvSpPr/>
          <p:nvPr/>
        </p:nvSpPr>
        <p:spPr>
          <a:xfrm>
            <a:off x="3575304" y="3337560"/>
            <a:ext cx="9601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3575304" y="3337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④识别薄弱点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4535424" y="33375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44"/>
          <p:cNvSpPr/>
          <p:nvPr/>
        </p:nvSpPr>
        <p:spPr>
          <a:xfrm>
            <a:off x="4645152" y="3337560"/>
            <a:ext cx="9601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4645152" y="3337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⑤智能体生成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5605272" y="33375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6" name="Shape 47"/>
          <p:cNvSpPr/>
          <p:nvPr/>
        </p:nvSpPr>
        <p:spPr>
          <a:xfrm>
            <a:off x="5715000" y="3337560"/>
            <a:ext cx="9601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5715000" y="3337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⑥精准推送</a:t>
            </a:r>
            <a:endParaRPr lang="en-US" sz="900" dirty="0"/>
          </a:p>
        </p:txBody>
      </p:sp>
      <p:sp>
        <p:nvSpPr>
          <p:cNvPr id="58" name="Text 49"/>
          <p:cNvSpPr/>
          <p:nvPr/>
        </p:nvSpPr>
        <p:spPr>
          <a:xfrm>
            <a:off x="6675120" y="33375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9" name="Shape 50"/>
          <p:cNvSpPr/>
          <p:nvPr/>
        </p:nvSpPr>
        <p:spPr>
          <a:xfrm>
            <a:off x="6784848" y="3337560"/>
            <a:ext cx="9601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1"/>
          <p:cNvSpPr/>
          <p:nvPr/>
        </p:nvSpPr>
        <p:spPr>
          <a:xfrm>
            <a:off x="6784848" y="3337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⑦学习反馈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7744968" y="33375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62" name="Shape 53"/>
          <p:cNvSpPr/>
          <p:nvPr/>
        </p:nvSpPr>
        <p:spPr>
          <a:xfrm>
            <a:off x="7854696" y="3337560"/>
            <a:ext cx="960120" cy="3657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7854696" y="3337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⑧画像更新</a:t>
            </a:r>
            <a:endParaRPr lang="en-US" sz="900" dirty="0"/>
          </a:p>
        </p:txBody>
      </p:sp>
      <p:sp>
        <p:nvSpPr>
          <p:cNvPr id="64" name="Shape 55"/>
          <p:cNvSpPr/>
          <p:nvPr/>
        </p:nvSpPr>
        <p:spPr>
          <a:xfrm>
            <a:off x="365760" y="3840480"/>
            <a:ext cx="15544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5" name="Text 56"/>
          <p:cNvSpPr/>
          <p:nvPr/>
        </p:nvSpPr>
        <p:spPr>
          <a:xfrm>
            <a:off x="365760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66" name="Text 57"/>
          <p:cNvSpPr/>
          <p:nvPr/>
        </p:nvSpPr>
        <p:spPr>
          <a:xfrm>
            <a:off x="365760" y="4187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</a:t>
            </a:r>
            <a:endParaRPr lang="en-US" sz="900" dirty="0"/>
          </a:p>
        </p:txBody>
      </p:sp>
      <p:sp>
        <p:nvSpPr>
          <p:cNvPr id="67" name="Shape 58"/>
          <p:cNvSpPr/>
          <p:nvPr/>
        </p:nvSpPr>
        <p:spPr>
          <a:xfrm>
            <a:off x="2057400" y="3840480"/>
            <a:ext cx="15544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8" name="Text 59"/>
          <p:cNvSpPr/>
          <p:nvPr/>
        </p:nvSpPr>
        <p:spPr>
          <a:xfrm>
            <a:off x="2057400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69" name="Text 60"/>
          <p:cNvSpPr/>
          <p:nvPr/>
        </p:nvSpPr>
        <p:spPr>
          <a:xfrm>
            <a:off x="2057400" y="4187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类资源</a:t>
            </a:r>
            <a:endParaRPr lang="en-US" sz="900" dirty="0"/>
          </a:p>
        </p:txBody>
      </p:sp>
      <p:sp>
        <p:nvSpPr>
          <p:cNvPr id="70" name="Shape 61"/>
          <p:cNvSpPr/>
          <p:nvPr/>
        </p:nvSpPr>
        <p:spPr>
          <a:xfrm>
            <a:off x="3749040" y="3840480"/>
            <a:ext cx="15544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1" name="Text 62"/>
          <p:cNvSpPr/>
          <p:nvPr/>
        </p:nvSpPr>
        <p:spPr>
          <a:xfrm>
            <a:off x="3749040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72" name="Text 63"/>
          <p:cNvSpPr/>
          <p:nvPr/>
        </p:nvSpPr>
        <p:spPr>
          <a:xfrm>
            <a:off x="3749040" y="4187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维画像</a:t>
            </a:r>
            <a:endParaRPr lang="en-US" sz="900" dirty="0"/>
          </a:p>
        </p:txBody>
      </p:sp>
      <p:sp>
        <p:nvSpPr>
          <p:cNvPr id="73" name="Shape 64"/>
          <p:cNvSpPr/>
          <p:nvPr/>
        </p:nvSpPr>
        <p:spPr>
          <a:xfrm>
            <a:off x="5440680" y="3840480"/>
            <a:ext cx="15544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4" name="Text 65"/>
          <p:cNvSpPr/>
          <p:nvPr/>
        </p:nvSpPr>
        <p:spPr>
          <a:xfrm>
            <a:off x="5440680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2400" dirty="0"/>
          </a:p>
        </p:txBody>
      </p:sp>
      <p:sp>
        <p:nvSpPr>
          <p:cNvPr id="75" name="Text 66"/>
          <p:cNvSpPr/>
          <p:nvPr/>
        </p:nvSpPr>
        <p:spPr>
          <a:xfrm>
            <a:off x="5440680" y="4187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API端点</a:t>
            </a:r>
            <a:endParaRPr lang="en-US" sz="900" dirty="0"/>
          </a:p>
        </p:txBody>
      </p:sp>
      <p:sp>
        <p:nvSpPr>
          <p:cNvPr id="76" name="Shape 67"/>
          <p:cNvSpPr/>
          <p:nvPr/>
        </p:nvSpPr>
        <p:spPr>
          <a:xfrm>
            <a:off x="7132320" y="3840480"/>
            <a:ext cx="15544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7" name="Text 68"/>
          <p:cNvSpPr/>
          <p:nvPr/>
        </p:nvSpPr>
        <p:spPr>
          <a:xfrm>
            <a:off x="7132320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400" dirty="0"/>
          </a:p>
        </p:txBody>
      </p:sp>
      <p:sp>
        <p:nvSpPr>
          <p:cNvPr id="78" name="Text 69"/>
          <p:cNvSpPr/>
          <p:nvPr/>
        </p:nvSpPr>
        <p:spPr>
          <a:xfrm>
            <a:off x="7132320" y="4187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58368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658368"/>
            <a:ext cx="26974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675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前端技术栈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02412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6 构建工具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 v7 + shadcn/ui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图表可视化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状态管理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+ DOMPurify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658368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658368"/>
            <a:ext cx="26974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6675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后端技术栈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02412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 3.12)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 数据校验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→ Service → Repo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PyMySQL 手写 SQL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5.7 (39表)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7 + Celery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部署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658368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658368"/>
            <a:ext cx="26974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6675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技术栈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102412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StateGraph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个智能体协作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Gateway 统一层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本地检索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Mock/OpenAI/Qwen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DeepSeek/MiniMax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向量(预留)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560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256032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34640"/>
            <a:ext cx="54864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28346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+ TypeScript + Tailwind v4 + MUI v7 + Zustand + Recharts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127248"/>
            <a:ext cx="8412480" cy="256032"/>
          </a:xfrm>
          <a:prstGeom prst="rect">
            <a:avLst/>
          </a:prstGeom>
          <a:solidFill>
            <a:srgbClr val="64748B">
              <a:alpha val="1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127248"/>
            <a:ext cx="54864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31272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REST API + SSE (Server-Sent Events) 流式输出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419856"/>
            <a:ext cx="8412480" cy="256032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19856"/>
            <a:ext cx="54864" cy="2560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419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20240" y="341985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Python 3.12  (Router → Service → Repository 三层架构)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712464"/>
            <a:ext cx="8412480" cy="25603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712464"/>
            <a:ext cx="54864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3712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0240" y="37124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StateGraph 编排  |  LLM Gateway 多模型统一接口  |  BM25 RAG 检索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005072"/>
            <a:ext cx="54864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20240" y="400507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5.7 (业务数据)  |  Redis 7 (缓存/队列)  |  PostgreSQL+pgvector (向量,预留)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370832"/>
            <a:ext cx="8412480" cy="6583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4407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8640" y="4709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Python源文件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94560" y="4407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194560" y="4709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API路由模块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40480" y="4407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840480" y="4709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API端点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4407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486400" y="4709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32320" y="4407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132320" y="4709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UI组件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多智能体协作 — LangGraph StateGraph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484632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1572768" cy="1783080"/>
          </a:xfrm>
          <a:prstGeom prst="rect">
            <a:avLst/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2104" y="640080"/>
            <a:ext cx="640080" cy="640080"/>
          </a:xfrm>
          <a:prstGeom prst="oval">
            <a:avLst/>
          </a:prstGeom>
          <a:solidFill>
            <a:srgbClr val="EF4444">
              <a:alpha val="2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685800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3258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诊断智能体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输入: 画像+知识点+历史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薄弱点分析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938528" y="11887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048256" y="566928"/>
            <a:ext cx="1572768" cy="1783080"/>
          </a:xfrm>
          <a:prstGeom prst="rect">
            <a:avLst/>
          </a:prstGeom>
          <a:solidFill>
            <a:srgbClr val="1E3A5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640080"/>
            <a:ext cx="640080" cy="640080"/>
          </a:xfrm>
          <a:prstGeom prst="oval">
            <a:avLst/>
          </a:prstGeom>
          <a:solidFill>
            <a:srgbClr val="F97316">
              <a:alpha val="25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685800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48256" y="13258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规划智能体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139696" y="16002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输入: 诊断+学习目标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2139696" y="19202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个性化路径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621024" y="11887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730752" y="566928"/>
            <a:ext cx="1572768" cy="1783080"/>
          </a:xfrm>
          <a:prstGeom prst="rect">
            <a:avLst/>
          </a:prstGeom>
          <a:solidFill>
            <a:srgbClr val="1E3A5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97096" y="640080"/>
            <a:ext cx="640080" cy="640080"/>
          </a:xfrm>
          <a:prstGeom prst="oval">
            <a:avLst/>
          </a:prstGeom>
          <a:solidFill>
            <a:srgbClr val="6366F1">
              <a:alpha val="25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685800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30752" y="13258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生成智能体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822192" y="16002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输入: 路径+资源类型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3822192" y="19202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8类资源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5303520" y="11887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5413248" y="566928"/>
            <a:ext cx="1572768" cy="1783080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879592" y="640080"/>
            <a:ext cx="640080" cy="640080"/>
          </a:xfrm>
          <a:prstGeom prst="oval">
            <a:avLst/>
          </a:prstGeom>
          <a:solidFill>
            <a:srgbClr val="10B981">
              <a:alpha val="25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85800"/>
            <a:ext cx="512064" cy="5120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13248" y="13258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评测智能体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504688" y="16002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输入: 测验+反馈+资源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5504688" y="19202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掌握度更新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6986016" y="11887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7095744" y="566928"/>
            <a:ext cx="1572768" cy="1783080"/>
          </a:xfrm>
          <a:prstGeom prst="rect">
            <a:avLst/>
          </a:prstGeom>
          <a:solidFill>
            <a:srgbClr val="1E3A5F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562088" y="640080"/>
            <a:ext cx="640080" cy="640080"/>
          </a:xfrm>
          <a:prstGeom prst="oval">
            <a:avLst/>
          </a:prstGeom>
          <a:solidFill>
            <a:srgbClr val="EC4899">
              <a:alpha val="25000"/>
            </a:srgbClr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96" y="685800"/>
            <a:ext cx="512064" cy="51206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095744" y="13258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审核智能体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7187184" y="16002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输入: 资源+难度要求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7187184" y="192024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质量评分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条件路由  |  质量 &lt; 7.0 触发返工循环（≤3次）  |  SSE 流式输出  |  质量评分 ≥ 7.0 方可通过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365760" y="28163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WorkflowState 核心字段定义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365760" y="3063240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65760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run_id: str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2468880" y="3063240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2468880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student_id: int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4572000" y="3063240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4572000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course_id: int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6675120" y="3063240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6675120" y="30632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knowledge_point_ids: List[int]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365760" y="3392424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365760" y="33924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resource_type: str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2468880" y="3392424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2468880" y="33924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difficulty: str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4572000" y="3392424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4572000" y="33924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student_profile: Dict</a:t>
            </a:r>
            <a:endParaRPr lang="en-US" sz="850" dirty="0"/>
          </a:p>
        </p:txBody>
      </p:sp>
      <p:sp>
        <p:nvSpPr>
          <p:cNvPr id="55" name="Shape 48"/>
          <p:cNvSpPr/>
          <p:nvPr/>
        </p:nvSpPr>
        <p:spPr>
          <a:xfrm>
            <a:off x="6675120" y="3392424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6675120" y="33924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knowledge_points: List[Dict]</a:t>
            </a:r>
            <a:endParaRPr lang="en-US" sz="850" dirty="0"/>
          </a:p>
        </p:txBody>
      </p:sp>
      <p:sp>
        <p:nvSpPr>
          <p:cNvPr id="57" name="Shape 50"/>
          <p:cNvSpPr/>
          <p:nvPr/>
        </p:nvSpPr>
        <p:spPr>
          <a:xfrm>
            <a:off x="365760" y="3721608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365760" y="3721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learning_history: List[Dict]</a:t>
            </a:r>
            <a:endParaRPr lang="en-US" sz="850" dirty="0"/>
          </a:p>
        </p:txBody>
      </p:sp>
      <p:sp>
        <p:nvSpPr>
          <p:cNvPr id="59" name="Shape 52"/>
          <p:cNvSpPr/>
          <p:nvPr/>
        </p:nvSpPr>
        <p:spPr>
          <a:xfrm>
            <a:off x="2468880" y="3721608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2468880" y="3721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Dict</a:t>
            </a:r>
            <a:endParaRPr lang="en-US" sz="850" dirty="0"/>
          </a:p>
        </p:txBody>
      </p:sp>
      <p:sp>
        <p:nvSpPr>
          <p:cNvPr id="61" name="Shape 54"/>
          <p:cNvSpPr/>
          <p:nvPr/>
        </p:nvSpPr>
        <p:spPr>
          <a:xfrm>
            <a:off x="4572000" y="3721608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4572000" y="3721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learning_plan: Dict</a:t>
            </a:r>
            <a:endParaRPr lang="en-US" sz="850" dirty="0"/>
          </a:p>
        </p:txBody>
      </p:sp>
      <p:sp>
        <p:nvSpPr>
          <p:cNvPr id="63" name="Shape 56"/>
          <p:cNvSpPr/>
          <p:nvPr/>
        </p:nvSpPr>
        <p:spPr>
          <a:xfrm>
            <a:off x="6675120" y="3721608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6675120" y="3721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generated_resource: Dict</a:t>
            </a:r>
            <a:endParaRPr lang="en-US" sz="850" dirty="0"/>
          </a:p>
        </p:txBody>
      </p:sp>
      <p:sp>
        <p:nvSpPr>
          <p:cNvPr id="65" name="Shape 58"/>
          <p:cNvSpPr/>
          <p:nvPr/>
        </p:nvSpPr>
        <p:spPr>
          <a:xfrm>
            <a:off x="365760" y="4050792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365760" y="4050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assessment: Dict</a:t>
            </a:r>
            <a:endParaRPr lang="en-US" sz="850" dirty="0"/>
          </a:p>
        </p:txBody>
      </p:sp>
      <p:sp>
        <p:nvSpPr>
          <p:cNvPr id="67" name="Shape 60"/>
          <p:cNvSpPr/>
          <p:nvPr/>
        </p:nvSpPr>
        <p:spPr>
          <a:xfrm>
            <a:off x="2468880" y="4050792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2468880" y="4050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teacher_review: Dict</a:t>
            </a:r>
            <a:endParaRPr lang="en-US" sz="850" dirty="0"/>
          </a:p>
        </p:txBody>
      </p:sp>
      <p:sp>
        <p:nvSpPr>
          <p:cNvPr id="69" name="Shape 62"/>
          <p:cNvSpPr/>
          <p:nvPr/>
        </p:nvSpPr>
        <p:spPr>
          <a:xfrm>
            <a:off x="4572000" y="4050792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4572000" y="4050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quality_score: float</a:t>
            </a:r>
            <a:endParaRPr lang="en-US" sz="850" dirty="0"/>
          </a:p>
        </p:txBody>
      </p:sp>
      <p:sp>
        <p:nvSpPr>
          <p:cNvPr id="71" name="Shape 64"/>
          <p:cNvSpPr/>
          <p:nvPr/>
        </p:nvSpPr>
        <p:spPr>
          <a:xfrm>
            <a:off x="6675120" y="4050792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6675120" y="4050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revision_count: int</a:t>
            </a:r>
            <a:endParaRPr lang="en-US" sz="850" dirty="0"/>
          </a:p>
        </p:txBody>
      </p:sp>
      <p:sp>
        <p:nvSpPr>
          <p:cNvPr id="73" name="Shape 66"/>
          <p:cNvSpPr/>
          <p:nvPr/>
        </p:nvSpPr>
        <p:spPr>
          <a:xfrm>
            <a:off x="457200" y="4434840"/>
            <a:ext cx="164592" cy="164592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74" name="Text 67"/>
          <p:cNvSpPr/>
          <p:nvPr/>
        </p:nvSpPr>
        <p:spPr>
          <a:xfrm>
            <a:off x="68580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条件路由</a:t>
            </a:r>
            <a:endParaRPr lang="en-US" sz="1000" dirty="0"/>
          </a:p>
        </p:txBody>
      </p:sp>
      <p:sp>
        <p:nvSpPr>
          <p:cNvPr id="75" name="Shape 68"/>
          <p:cNvSpPr/>
          <p:nvPr/>
        </p:nvSpPr>
        <p:spPr>
          <a:xfrm>
            <a:off x="2560320" y="4434840"/>
            <a:ext cx="164592" cy="164592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76" name="Text 69"/>
          <p:cNvSpPr/>
          <p:nvPr/>
        </p:nvSpPr>
        <p:spPr>
          <a:xfrm>
            <a:off x="278892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自动返工（≤3次）</a:t>
            </a:r>
            <a:endParaRPr lang="en-US" sz="1000" dirty="0"/>
          </a:p>
        </p:txBody>
      </p:sp>
      <p:sp>
        <p:nvSpPr>
          <p:cNvPr id="77" name="Shape 70"/>
          <p:cNvSpPr/>
          <p:nvPr/>
        </p:nvSpPr>
        <p:spPr>
          <a:xfrm>
            <a:off x="4663440" y="4434840"/>
            <a:ext cx="164592" cy="164592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78" name="Text 71"/>
          <p:cNvSpPr/>
          <p:nvPr/>
        </p:nvSpPr>
        <p:spPr>
          <a:xfrm>
            <a:off x="489204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流式输出</a:t>
            </a:r>
            <a:endParaRPr lang="en-US" sz="1000" dirty="0"/>
          </a:p>
        </p:txBody>
      </p:sp>
      <p:sp>
        <p:nvSpPr>
          <p:cNvPr id="79" name="Shape 72"/>
          <p:cNvSpPr/>
          <p:nvPr/>
        </p:nvSpPr>
        <p:spPr>
          <a:xfrm>
            <a:off x="6766560" y="4434840"/>
            <a:ext cx="164592" cy="164592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80" name="Text 73"/>
          <p:cNvSpPr/>
          <p:nvPr/>
        </p:nvSpPr>
        <p:spPr>
          <a:xfrm>
            <a:off x="699516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 ≥ 7.0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课程知识库 — 证据优先生成链路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484632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94360"/>
            <a:ext cx="402336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94360"/>
            <a:ext cx="402336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12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知识库建立流程（6 步）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87552"/>
            <a:ext cx="292608" cy="292608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987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上传课程资料（PDF/Markdown/Word/PPT）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1280160"/>
            <a:ext cx="0" cy="18288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463040"/>
            <a:ext cx="292608" cy="292608"/>
          </a:xfrm>
          <a:prstGeom prst="oval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自动识别文件类型并解析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" y="1755648"/>
            <a:ext cx="0" cy="18288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938528"/>
            <a:ext cx="292608" cy="292608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1938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按章节/段落切分成 chunk（200-500字）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" y="2231136"/>
            <a:ext cx="0" cy="18288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414016"/>
            <a:ext cx="292608" cy="292608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414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匹配课程知识点（k=1.5, b=0.75）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" y="2706624"/>
            <a:ext cx="0" cy="18288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889504"/>
            <a:ext cx="292608" cy="292608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2889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chunk ←→ 知识点绑定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" y="3182112"/>
            <a:ext cx="0" cy="18288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364992"/>
            <a:ext cx="292608" cy="292608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33649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知识库检索（带来源+chunk编号+页码）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594360"/>
            <a:ext cx="420624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594360"/>
            <a:ext cx="420624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612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证据锁定式 RAG 链路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9160" y="960120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BM25 检索相关 chunk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拼接为带来源标注的上下文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注入 LLM Prompt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4: 生成内容（带 [来源：xxx] 引用）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5: 可信度评分（≥0.8 直接用）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6: 证据链接写入 resource_evidence_links 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2267712"/>
            <a:ext cx="420624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2267712"/>
            <a:ext cx="42062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可信度评分标准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2651760"/>
            <a:ext cx="4023360" cy="274320"/>
          </a:xfrm>
          <a:prstGeom prst="rect">
            <a:avLst/>
          </a:prstGeom>
          <a:solidFill>
            <a:srgbClr val="10B981">
              <a:alpha val="12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651760"/>
            <a:ext cx="54864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&gt;= 0.8  |  低风险  →  直接使用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953512"/>
            <a:ext cx="4023360" cy="274320"/>
          </a:xfrm>
          <a:prstGeom prst="rect">
            <a:avLst/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953512"/>
            <a:ext cx="54864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0.5-0.8  |  中风险  →  建议复核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255264"/>
            <a:ext cx="4023360" cy="274320"/>
          </a:xfrm>
          <a:prstGeom prst="rect">
            <a:avLst/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3255264"/>
            <a:ext cx="54864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4773168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0.3-0.5  |  高风险  →  教师复核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557016"/>
            <a:ext cx="4023360" cy="274320"/>
          </a:xfrm>
          <a:prstGeom prst="rect">
            <a:avLst/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557016"/>
            <a:ext cx="54864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4773168" y="3557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0.3  |  严重  →  需大改重写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5760" y="39136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本地轻量检索，不依赖外部 Embedding API，兼顾效果与成本  |  支持中文分词（正则 + 35个停用词）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4206240"/>
            <a:ext cx="841248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7200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BM25 检索示例代码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4622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rank_bm25 import BM25Okapi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中文分词（正则）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tokenize(text):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re.findall(r'[\u4e00-\u9fff]+|[a-zA-Z]+', text)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构建 BM25 索引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[chunk["content"] for chunk in course_chunks]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tokenized_corpus = [tokenize(doc) for doc in chunks]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bm25 = BM25Okapi(tokenized_corpus)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检索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= "SQL 多表连接 INNER JOIN"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= tokenize(query)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bm25.get_scores(tokens)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对话式学习画像 — 10维度动态画像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120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自然语言对话构建 + 反馈驱动动态更新 = 真正因材施教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572768" cy="86868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914400"/>
            <a:ext cx="548640" cy="457200"/>
          </a:xfrm>
          <a:prstGeom prst="oval">
            <a:avLst/>
          </a:prstGeom>
          <a:solidFill>
            <a:srgbClr val="0891B2">
              <a:alpha val="2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978408"/>
            <a:ext cx="42062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29844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知识基础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14813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当前专业基础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048256" y="822960"/>
            <a:ext cx="1572768" cy="868680"/>
          </a:xfrm>
          <a:prstGeom prst="rect">
            <a:avLst/>
          </a:prstGeom>
          <a:solidFill>
            <a:srgbClr val="1E3A5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914400"/>
            <a:ext cx="548640" cy="457200"/>
          </a:xfrm>
          <a:prstGeom prst="oval">
            <a:avLst/>
          </a:prstGeom>
          <a:solidFill>
            <a:srgbClr val="6366F1">
              <a:alpha val="25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978408"/>
            <a:ext cx="420624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48256" y="129844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当前水平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048256" y="14813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年级/阶段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30752" y="822960"/>
            <a:ext cx="1572768" cy="868680"/>
          </a:xfrm>
          <a:prstGeom prst="rect">
            <a:avLst/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42816" y="914400"/>
            <a:ext cx="548640" cy="457200"/>
          </a:xfrm>
          <a:prstGeom prst="oval">
            <a:avLst/>
          </a:prstGeom>
          <a:solidFill>
            <a:srgbClr val="EF4444">
              <a:alpha val="25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978408"/>
            <a:ext cx="420624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30752" y="129844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薄弱知识点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730752" y="14813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SQL/算法/网络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5413248" y="822960"/>
            <a:ext cx="1572768" cy="868680"/>
          </a:xfrm>
          <a:prstGeom prst="rect">
            <a:avLst/>
          </a:prstGeom>
          <a:solidFill>
            <a:srgbClr val="1E3A5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25312" y="914400"/>
            <a:ext cx="548640" cy="457200"/>
          </a:xfrm>
          <a:prstGeom prst="oval">
            <a:avLst/>
          </a:prstGeom>
          <a:solidFill>
            <a:srgbClr val="F97316">
              <a:alpha val="25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978408"/>
            <a:ext cx="420624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3248" y="129844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易错点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13248" y="14813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语法/理解偏差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7095744" y="822960"/>
            <a:ext cx="1572768" cy="868680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607808" y="914400"/>
            <a:ext cx="548640" cy="457200"/>
          </a:xfrm>
          <a:prstGeom prst="oval">
            <a:avLst/>
          </a:prstGeom>
          <a:solidFill>
            <a:srgbClr val="F59E0B">
              <a:alpha val="25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978408"/>
            <a:ext cx="420624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95744" y="129844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学习目标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7095744" y="148132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考研/就业/兴趣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365760" y="1828800"/>
            <a:ext cx="1572768" cy="868680"/>
          </a:xfrm>
          <a:prstGeom prst="rect">
            <a:avLst/>
          </a:prstGeom>
          <a:solidFill>
            <a:srgbClr val="1E3A5F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77824" y="1920240"/>
            <a:ext cx="548640" cy="457200"/>
          </a:xfrm>
          <a:prstGeom prst="oval">
            <a:avLst/>
          </a:prstGeom>
          <a:solidFill>
            <a:srgbClr val="EC4899">
              <a:alpha val="25000"/>
            </a:srgbClr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1984248"/>
            <a:ext cx="420624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5760" y="2304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认知风格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365760" y="24871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视觉/听觉/动手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2048256" y="1828800"/>
            <a:ext cx="1572768" cy="868680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2560320" y="1920240"/>
            <a:ext cx="548640" cy="457200"/>
          </a:xfrm>
          <a:prstGeom prst="oval">
            <a:avLst/>
          </a:prstGeom>
          <a:solidFill>
            <a:srgbClr val="10B981">
              <a:alpha val="25000"/>
            </a:srgbClr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4328" y="1984248"/>
            <a:ext cx="420624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048256" y="2304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资源偏好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2048256" y="24871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讲义/视频/练习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3730752" y="1828800"/>
            <a:ext cx="1572768" cy="868680"/>
          </a:xfrm>
          <a:prstGeom prst="rect">
            <a:avLst/>
          </a:prstGeom>
          <a:solidFill>
            <a:srgbClr val="1E3A5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242816" y="1920240"/>
            <a:ext cx="548640" cy="457200"/>
          </a:xfrm>
          <a:prstGeom prst="oval">
            <a:avLst/>
          </a:prstGeom>
          <a:solidFill>
            <a:srgbClr val="0EA5E9">
              <a:alpha val="25000"/>
            </a:srgbClr>
          </a:solidFill>
          <a:ln/>
        </p:spPr>
      </p:sp>
      <p:sp>
        <p:nvSpPr>
          <p:cNvPr id="42" name="Text 33"/>
          <p:cNvSpPr/>
          <p:nvPr/>
        </p:nvSpPr>
        <p:spPr>
          <a:xfrm>
            <a:off x="3730752" y="2304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时间约束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3730752" y="24871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每周可用时长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5413248" y="1828800"/>
            <a:ext cx="1572768" cy="868680"/>
          </a:xfrm>
          <a:prstGeom prst="rect">
            <a:avLst/>
          </a:prstGeom>
          <a:solidFill>
            <a:srgbClr val="1E3A5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5925312" y="1920240"/>
            <a:ext cx="548640" cy="457200"/>
          </a:xfrm>
          <a:prstGeom prst="oval">
            <a:avLst/>
          </a:prstGeom>
          <a:solidFill>
            <a:srgbClr val="8B5CF6">
              <a:alpha val="25000"/>
            </a:srgbClr>
          </a:solidFill>
          <a:ln/>
        </p:spPr>
      </p:sp>
      <p:sp>
        <p:nvSpPr>
          <p:cNvPr id="46" name="Text 37"/>
          <p:cNvSpPr/>
          <p:nvPr/>
        </p:nvSpPr>
        <p:spPr>
          <a:xfrm>
            <a:off x="5413248" y="2304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实践能力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5413248" y="24871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理论/实践倾向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7095744" y="1828800"/>
            <a:ext cx="1572768" cy="868680"/>
          </a:xfrm>
          <a:prstGeom prst="rect">
            <a:avLst/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7607808" y="1920240"/>
            <a:ext cx="548640" cy="457200"/>
          </a:xfrm>
          <a:prstGeom prst="oval">
            <a:avLst/>
          </a:prstGeom>
          <a:solidFill>
            <a:srgbClr val="14B8A6">
              <a:alpha val="25000"/>
            </a:srgbClr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1816" y="1984248"/>
            <a:ext cx="420624" cy="34747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095744" y="23042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学习动机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7095744" y="24871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内驱/外部激励</a:t>
            </a:r>
            <a:endParaRPr lang="en-US" sz="800" dirty="0"/>
          </a:p>
        </p:txBody>
      </p:sp>
      <p:sp>
        <p:nvSpPr>
          <p:cNvPr id="53" name="Shape 43"/>
          <p:cNvSpPr/>
          <p:nvPr/>
        </p:nvSpPr>
        <p:spPr>
          <a:xfrm>
            <a:off x="365760" y="2880360"/>
            <a:ext cx="84124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365760" y="2880360"/>
            <a:ext cx="64008" cy="21488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5" name="Text 45"/>
          <p:cNvSpPr/>
          <p:nvPr/>
        </p:nvSpPr>
        <p:spPr>
          <a:xfrm>
            <a:off x="548640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对话式画像构建完整流程</a:t>
            </a:r>
            <a:endParaRPr lang="en-US" sz="1100" dirty="0"/>
          </a:p>
        </p:txBody>
      </p:sp>
      <p:sp>
        <p:nvSpPr>
          <p:cNvPr id="56" name="Shape 46"/>
          <p:cNvSpPr/>
          <p:nvPr/>
        </p:nvSpPr>
        <p:spPr>
          <a:xfrm>
            <a:off x="548640" y="3218688"/>
            <a:ext cx="3840480" cy="777240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640080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学生输入</a:t>
            </a:r>
            <a:endParaRPr lang="en-US" sz="900" dirty="0"/>
          </a:p>
        </p:txBody>
      </p:sp>
      <p:sp>
        <p:nvSpPr>
          <p:cNvPr id="58" name="Text 48"/>
          <p:cNvSpPr/>
          <p:nvPr/>
        </p:nvSpPr>
        <p:spPr>
          <a:xfrm>
            <a:off x="640080" y="34564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"我是计算机专业大三学生，想系统复习数据库，特别是索引和事务部分。喜欢代码案例，学习风格偏向动手实践。"</a:t>
            </a:r>
            <a:endParaRPr lang="en-US" sz="900" dirty="0"/>
          </a:p>
        </p:txBody>
      </p:sp>
      <p:sp>
        <p:nvSpPr>
          <p:cNvPr id="59" name="Text 49"/>
          <p:cNvSpPr/>
          <p:nvPr/>
        </p:nvSpPr>
        <p:spPr>
          <a:xfrm>
            <a:off x="2286000" y="4005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60" name="Shape 50"/>
          <p:cNvSpPr/>
          <p:nvPr/>
        </p:nvSpPr>
        <p:spPr>
          <a:xfrm>
            <a:off x="548640" y="4297680"/>
            <a:ext cx="3840480" cy="685800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640080" y="43251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抽取结果</a:t>
            </a:r>
            <a:endParaRPr lang="en-US" sz="900" dirty="0"/>
          </a:p>
        </p:txBody>
      </p:sp>
      <p:sp>
        <p:nvSpPr>
          <p:cNvPr id="62" name="Text 52"/>
          <p:cNvSpPr/>
          <p:nvPr/>
        </p:nvSpPr>
        <p:spPr>
          <a:xfrm>
            <a:off x="640080" y="4526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知识基础=计算机专业 | 学习目标=系统复习 | 薄弱点=索引/事务 | 资源偏好=代码案例 | 认知风格=动手实践</a:t>
            </a:r>
            <a:endParaRPr lang="en-US" sz="850" dirty="0"/>
          </a:p>
        </p:txBody>
      </p:sp>
      <p:sp>
        <p:nvSpPr>
          <p:cNvPr id="63" name="Shape 53"/>
          <p:cNvSpPr/>
          <p:nvPr/>
        </p:nvSpPr>
        <p:spPr>
          <a:xfrm>
            <a:off x="4572000" y="3218688"/>
            <a:ext cx="4023360" cy="176479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54"/>
          <p:cNvSpPr/>
          <p:nvPr/>
        </p:nvSpPr>
        <p:spPr>
          <a:xfrm>
            <a:off x="4663440" y="32735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画像驱动下游服务</a:t>
            </a:r>
            <a:endParaRPr lang="en-US" sz="1000" dirty="0"/>
          </a:p>
        </p:txBody>
      </p:sp>
      <p:sp>
        <p:nvSpPr>
          <p:cNvPr id="65" name="Text 55"/>
          <p:cNvSpPr/>
          <p:nvPr/>
        </p:nvSpPr>
        <p:spPr>
          <a:xfrm>
            <a:off x="4754880" y="3547872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智能体诊断依据（薄弱点识别）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资源类型推荐（代码案例 &gt; 视频）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学习路径优先级（事务 &gt; 索引）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Tutor 解释难度（动手示例优先）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推荐刷新策略（练习题强化）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个性化学习路径 — 掌握度驱动的动态规划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621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节点颜色含义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96112"/>
            <a:ext cx="292608" cy="292608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877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已掌握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0607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 ≥ 0.75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292608" cy="292608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408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待巩固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5910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≤ mastery &lt; 0.75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1956816"/>
            <a:ext cx="292608" cy="29260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938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薄弱点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1214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 &lt; 0.5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487168"/>
            <a:ext cx="292608" cy="292608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468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当前推荐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系统推荐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08960" y="566928"/>
            <a:ext cx="56692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621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ECharts 知识图谱 — 数据库课程示例（点击薄弱点查看推荐资源）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1097280"/>
            <a:ext cx="914400" cy="457200"/>
          </a:xfrm>
          <a:prstGeom prst="oval">
            <a:avLst/>
          </a:prstGeom>
          <a:solidFill>
            <a:srgbClr val="10B981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SELECT基础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0" y="13350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已掌握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0" y="1097280"/>
            <a:ext cx="914400" cy="457200"/>
          </a:xfrm>
          <a:prstGeom prst="oval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WHERE子句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13350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待巩固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760720" y="914400"/>
            <a:ext cx="914400" cy="457200"/>
          </a:xfrm>
          <a:prstGeom prst="oval">
            <a:avLst/>
          </a:prstGeom>
          <a:solidFill>
            <a:srgbClr val="10B981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914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聚合函数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0720" y="11521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已掌握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212080" y="1645920"/>
            <a:ext cx="914400" cy="457200"/>
          </a:xfrm>
          <a:prstGeom prst="oval">
            <a:avLst/>
          </a:prstGeom>
          <a:solidFill>
            <a:srgbClr val="EF4444">
              <a:alpha val="8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1645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多表连接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12080" y="18836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薄弱点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400800" y="1737360"/>
            <a:ext cx="914400" cy="457200"/>
          </a:xfrm>
          <a:prstGeom prst="oval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子查询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0" y="19751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待巩固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400800" y="2468880"/>
            <a:ext cx="914400" cy="457200"/>
          </a:xfrm>
          <a:prstGeom prst="oval">
            <a:avLst/>
          </a:prstGeom>
          <a:solidFill>
            <a:srgbClr val="0891B2">
              <a:alpha val="8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事务控制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00800" y="27066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931920" y="1645920"/>
            <a:ext cx="914400" cy="457200"/>
          </a:xfrm>
          <a:prstGeom prst="oval">
            <a:avLst/>
          </a:prstGeom>
          <a:solidFill>
            <a:srgbClr val="10B981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1645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JOIN类型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931920" y="18836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已掌握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5760" y="3200400"/>
            <a:ext cx="8412480" cy="1783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3200400"/>
            <a:ext cx="84124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系统自动规划今日学习顺序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3611880"/>
            <a:ext cx="320040" cy="3200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68680" y="3584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单表查询（前置知识，约 20 分钟）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154680" y="3611880"/>
            <a:ext cx="9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46120" y="3611880"/>
            <a:ext cx="320040" cy="3200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324612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0" y="3584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多表连接（薄弱点，约 60 分钟，优先级最高）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943600" y="3611880"/>
            <a:ext cx="9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035040" y="3611880"/>
            <a:ext cx="320040" cy="3200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603504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46520" y="3584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事务与并发控制（进阶，约 45 分钟）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069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Agent 输出示例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315968"/>
            <a:ext cx="8412480" cy="6217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3708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learning_path: [{"kp_id": 1, "name": "SELECT基础", "order": 1, "estimated_time": 20}, {"kp_id": 5, "name": "多表连接", "order": 2, "priority": "HIGH", "estimated_time": 60}, ...]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智能体工作台 — 多智能体协作一键生成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40233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66928"/>
            <a:ext cx="402336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85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AgentWorkbench 操作流程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256032" cy="256032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60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7824" y="941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选择学生（画像卡片展示）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307592"/>
            <a:ext cx="256032" cy="256032"/>
          </a:xfrm>
          <a:prstGeom prst="oval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07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" y="12893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选择目标知识点（checkbox 多选）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655064"/>
            <a:ext cx="256032" cy="256032"/>
          </a:xfrm>
          <a:prstGeom prst="oval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655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" y="1636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选择资源类型（lecture/quiz 等 8 类）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002536"/>
            <a:ext cx="256032" cy="256032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002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7824" y="19842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点击「开始生成」（SSE 流式）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350008"/>
            <a:ext cx="256032" cy="256032"/>
          </a:xfrm>
          <a:prstGeom prst="oval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7824" y="2331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个智能体依次执行（逐步变绿）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2697480"/>
            <a:ext cx="256032" cy="256032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77824" y="2679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生成结果（Markdown + 可信度 + 证据来源）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044952"/>
            <a:ext cx="256032" cy="256032"/>
          </a:xfrm>
          <a:prstGeom prst="oval">
            <a:avLst/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" y="3026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点击「保存资源」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392424"/>
            <a:ext cx="256032" cy="25603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7824" y="33741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进入审核中心 → 批准发布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566928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566928"/>
            <a:ext cx="420624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585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类差异化资源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932688"/>
            <a:ext cx="1965960" cy="301752"/>
          </a:xfrm>
          <a:prstGeom prst="rect">
            <a:avLst/>
          </a:prstGeom>
          <a:solidFill>
            <a:srgbClr val="0891B2">
              <a:alpha val="12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93268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讲义：Markdown正文+引用卡片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720840" y="932688"/>
            <a:ext cx="1965960" cy="301752"/>
          </a:xfrm>
          <a:prstGeom prst="rect">
            <a:avLst/>
          </a:prstGeom>
          <a:solidFill>
            <a:srgbClr val="EC4899">
              <a:alpha val="12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93992" y="93268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题库：题目卡片+答案折叠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1271016"/>
            <a:ext cx="1965960" cy="301752"/>
          </a:xfrm>
          <a:prstGeom prst="rect">
            <a:avLst/>
          </a:prstGeom>
          <a:solidFill>
            <a:srgbClr val="6366F1">
              <a:alpha val="12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127101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代码案例：语法高亮+运行步骤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20840" y="1271016"/>
            <a:ext cx="1965960" cy="301752"/>
          </a:xfrm>
          <a:prstGeom prst="rect">
            <a:avLst/>
          </a:prstGeom>
          <a:solidFill>
            <a:srgbClr val="14B8A6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93992" y="127101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PPT大纲：分镜卡片横向滚动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1609344"/>
            <a:ext cx="1965960" cy="301752"/>
          </a:xfrm>
          <a:prstGeom prst="rect">
            <a:avLst/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160934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视频脚本：镜头脚本+时长标注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20840" y="1609344"/>
            <a:ext cx="1965960" cy="301752"/>
          </a:xfrm>
          <a:prstGeom prst="rect">
            <a:avLst/>
          </a:prstGeom>
          <a:solidFill>
            <a:srgbClr val="10B981">
              <a:alpha val="12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93992" y="160934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思维导图：树状结构节点图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1947672"/>
            <a:ext cx="1965960" cy="301752"/>
          </a:xfrm>
          <a:prstGeom prst="rect">
            <a:avLst/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194767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复习计划：时间轴卡片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720840" y="1947672"/>
            <a:ext cx="1965960" cy="301752"/>
          </a:xfrm>
          <a:prstGeom prst="rect">
            <a:avLst/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93992" y="194767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阶段测验：测验卡片交互答题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0" y="2304288"/>
            <a:ext cx="420624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63440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流式事件示例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63440" y="25603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 data: {"node":"diagnosis", "step":"done"}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 data: {"node":"planning", "step":"done"}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 data: {"node":"generation", "step":"done"}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 data: {"node":"done", "result":{...}}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65760" y="3456432"/>
            <a:ext cx="841248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5760" y="3456432"/>
            <a:ext cx="84124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生成结果示例 — SQL 多表连接讲义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02920" y="3822192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1. INNER JOIN（内连接）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返回两表满足 ON 条件的匹配记录...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[来源：教材第3章 SQL查询基础, chunk #2]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2. LEFT JOIN（右表连接）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保留左表全部记录，即使右表中没有匹配行也显示 NULL 值...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[来源：课件 Chapter4-连接查询, chunk #0]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可信度：92%  ✓ 已引用 2 个 chunk  生成耗时：3.2s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学生端 — 资源学习与智能答疑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402336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66928"/>
            <a:ext cx="402336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85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我的资源库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3840480" cy="347472"/>
          </a:xfrm>
          <a:prstGeom prst="rect">
            <a:avLst/>
          </a:prstGeom>
          <a:solidFill>
            <a:srgbClr val="0891B2">
              <a:alpha val="10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32688"/>
            <a:ext cx="54864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95097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[讲义]  SQL多表连接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0972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 |  李老师  |  2026-07-10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316736"/>
            <a:ext cx="3840480" cy="347472"/>
          </a:xfrm>
          <a:prstGeom prst="rect">
            <a:avLst/>
          </a:prstGeom>
          <a:solidFill>
            <a:srgbClr val="EC4899">
              <a:alpha val="10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316736"/>
            <a:ext cx="54864" cy="3474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13350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[题库]  SQL练习题集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14813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 |  李老师  |  2026-07-10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700784"/>
            <a:ext cx="3840480" cy="347472"/>
          </a:xfrm>
          <a:prstGeom prst="rect">
            <a:avLst/>
          </a:prstGeom>
          <a:solidFill>
            <a:srgbClr val="6366F1">
              <a:alpha val="10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700784"/>
            <a:ext cx="54864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17190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[案例]  JOIN实操案例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186537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待学  |  李老师  |  2026-07-10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084832"/>
            <a:ext cx="3840480" cy="347472"/>
          </a:xfrm>
          <a:prstGeom prst="rect">
            <a:avLst/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84832"/>
            <a:ext cx="54864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21031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[导图]  索引结构思维导图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224942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 |  李老师  |  2026-07-10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542032"/>
            <a:ext cx="402336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542032"/>
            <a:ext cx="4023360" cy="2926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讲义渲染 + 证据来源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288036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SQL 多表连接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返回两表满足 ON 条件的匹配记录。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[来源：教材第3章 SQL查询基础, chunk #2]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保留左表全部记录...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[来源：课件 Chapter4-连接查询, chunk #0]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引用来源 ①教材P.45  ②课件P.12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566928"/>
            <a:ext cx="4206240" cy="4398264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566928"/>
            <a:ext cx="42062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585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Copilot — 多模态答疑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932688"/>
            <a:ext cx="4023360" cy="292608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932688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学生：多表连接有哪几种？它们的区别是？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61872"/>
          <a:ext cx="4023360" cy="123444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5544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连接类型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特点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适用场景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INNER JOIN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匹配行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一般查询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LEFT JOIN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保留左表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左表全显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RIGHT JOIN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保留右表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右表全显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FULL JOIN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全部保留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并集查询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4663440" y="25146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[来源：教材第3章]  [来源：课件P.12]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4663440" y="2724912"/>
            <a:ext cx="1828800" cy="274320"/>
          </a:xfrm>
          <a:prstGeom prst="rect">
            <a:avLst/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0916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没理解？降低难度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583680" y="2724912"/>
            <a:ext cx="210312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29400" y="2724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相关练习题 →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663440" y="3063240"/>
            <a:ext cx="40233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3063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输入问题...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229600" y="3063240"/>
            <a:ext cx="41148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8"/>
          <p:cNvSpPr/>
          <p:nvPr/>
        </p:nvSpPr>
        <p:spPr>
          <a:xfrm>
            <a:off x="8229600" y="30632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发送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663440" y="3566160"/>
            <a:ext cx="137160" cy="13716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43" name="Text 40"/>
          <p:cNvSpPr/>
          <p:nvPr/>
        </p:nvSpPr>
        <p:spPr>
          <a:xfrm>
            <a:off x="4864608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结合学生画像定制回答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766560" y="3566160"/>
            <a:ext cx="137160" cy="13716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45" name="Text 42"/>
          <p:cNvSpPr/>
          <p:nvPr/>
        </p:nvSpPr>
        <p:spPr>
          <a:xfrm>
            <a:off x="6967728" y="3493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生成对比表格等多模态卡片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663440" y="4041648"/>
            <a:ext cx="137160" cy="13716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47" name="Text 44"/>
          <p:cNvSpPr/>
          <p:nvPr/>
        </p:nvSpPr>
        <p:spPr>
          <a:xfrm>
            <a:off x="4864608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引用知识库原文来源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766560" y="4041648"/>
            <a:ext cx="137160" cy="13716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49" name="Text 46"/>
          <p:cNvSpPr/>
          <p:nvPr/>
        </p:nvSpPr>
        <p:spPr>
          <a:xfrm>
            <a:off x="6967728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自适应难度调整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反馈驱动闭环 — 学 → 测 → 评 → 调整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1554480" cy="384048"/>
          </a:xfrm>
          <a:prstGeom prst="rect">
            <a:avLst/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学习资源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56692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84832" y="566928"/>
            <a:ext cx="1554480" cy="384048"/>
          </a:xfrm>
          <a:prstGeom prst="rect">
            <a:avLst/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提交测验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39312" y="56692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03904" y="566928"/>
            <a:ext cx="1554480" cy="384048"/>
          </a:xfrm>
          <a:prstGeom prst="rect">
            <a:avLst/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效果评估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58384" y="56692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22976" y="566928"/>
            <a:ext cx="1554480" cy="384048"/>
          </a:xfrm>
          <a:prstGeom prst="rect">
            <a:avLst/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画像更新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77456" y="56692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42048" y="566928"/>
            <a:ext cx="1554480" cy="384048"/>
          </a:xfrm>
          <a:prstGeom prst="rect">
            <a:avLst/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42048" y="566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路径调整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" y="1097280"/>
            <a:ext cx="40233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提交学习反馈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144475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反馈类型： ○ 自评    ● 测验结果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选择资源：[SQL 多表连接练习题] 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测验得分：────────●──────── 60%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错误原因：混淆了 LEFT JOIN 和 RIGHT JOIN 的语义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286000"/>
            <a:ext cx="109728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提交反馈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097280"/>
            <a:ext cx="42062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097280"/>
            <a:ext cx="420624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115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反馈影响 — 画像已更新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444752"/>
            <a:ext cx="1097280" cy="329184"/>
          </a:xfrm>
          <a:prstGeom prst="rect">
            <a:avLst/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444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掌握度变化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0" y="146304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 → 0.50  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0" y="1627632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答题正确率60%，下调0.15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63440" y="1828800"/>
            <a:ext cx="1097280" cy="329184"/>
          </a:xfrm>
          <a:prstGeom prst="rect">
            <a:avLst/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828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推荐切换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52160" y="184708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进阶练习 → 基础讲义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52160" y="2011680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推荐策略自动调整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63440" y="2212848"/>
            <a:ext cx="1097280" cy="329184"/>
          </a:xfrm>
          <a:prstGeom prst="rect">
            <a:avLst/>
          </a:prstGeom>
          <a:solidFill>
            <a:srgbClr val="F97316">
              <a:alpha val="15000"/>
            </a:srgbClr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2128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路径调整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52160" y="223113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橙色 → 红色（薄弱点）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2395728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优先级提升到第一位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5760" y="26700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Agent 掌握度更新规则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2926080"/>
            <a:ext cx="2697480" cy="50292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9443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准确率 &gt; 80%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316382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 += 0.15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2926080"/>
            <a:ext cx="2697480" cy="50292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29443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&lt; 准确率 ≤ 80%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91840" y="316382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 += 0.05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35040" y="2926080"/>
            <a:ext cx="2697480" cy="50292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29443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准确率 &lt; 60%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26480" y="316382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 -= 0.10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3493008"/>
            <a:ext cx="841248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7200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掌握度更新 SQL (UPSERT 模式)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插入或更新单条掌握度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student_knowledge_mastery (student_id, kp_id, mastery_score, updated_at)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(?, ?, ?, NOW())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DUPLICATE KEY UPDATE mastery_score = VALUES(mastery_score);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重算综合掌握度 (AVG)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student_profiles sp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mastery_score = 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AVG(mastery_score) FROM student_knowledge_mastery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student_id = sp.student_id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updated_at = NOW()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student_id = ?;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管理端 — 平台级治理与成本审计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66928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66928"/>
            <a:ext cx="20116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83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 ↑12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566928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566928"/>
            <a:ext cx="20116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6583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1024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566928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566928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6583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↑8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1024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566928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566928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6583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1,234 ↑89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1024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444752"/>
            <a:ext cx="402336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444752"/>
            <a:ext cx="402336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管理模块（8 个子模块）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1828800"/>
            <a:ext cx="1874520" cy="640080"/>
          </a:xfrm>
          <a:prstGeom prst="rect">
            <a:avLst/>
          </a:prstGeom>
          <a:solidFill>
            <a:srgbClr val="0891B2">
              <a:alpha val="10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82880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60120" y="18745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用户管理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60120" y="21214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增删改查 + 角色分配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423160" y="1828800"/>
            <a:ext cx="1874520" cy="640080"/>
          </a:xfrm>
          <a:prstGeom prst="rect">
            <a:avLst/>
          </a:prstGeom>
          <a:solidFill>
            <a:srgbClr val="6366F1">
              <a:alpha val="10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423160" y="1828800"/>
            <a:ext cx="54864" cy="6400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920240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2926080" y="18745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课程管理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2926080" y="21214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 CRUD + 知识点树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457200" y="2542032"/>
            <a:ext cx="1874520" cy="640080"/>
          </a:xfrm>
          <a:prstGeom prst="rect">
            <a:avLst/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57200" y="2542032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33472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60120" y="25877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模型配置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960120" y="2834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切换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2423160" y="2542032"/>
            <a:ext cx="1874520" cy="640080"/>
          </a:xfrm>
          <a:prstGeom prst="rect">
            <a:avLst/>
          </a:prstGeom>
          <a:solidFill>
            <a:srgbClr val="F97316">
              <a:alpha val="10000"/>
            </a:srgbClr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2423160" y="2542032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2633472"/>
            <a:ext cx="347472" cy="34747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2926080" y="25877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智能体配置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2926080" y="28346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参数调优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457200" y="3255264"/>
            <a:ext cx="1874520" cy="640080"/>
          </a:xfrm>
          <a:prstGeom prst="rect">
            <a:avLst/>
          </a:prstGeom>
          <a:solidFill>
            <a:srgbClr val="EC4899">
              <a:alpha val="10000"/>
            </a:srgbClr>
          </a:solidFill>
          <a:ln w="9525">
            <a:solidFill>
              <a:srgbClr val="EC4899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457200" y="3255264"/>
            <a:ext cx="54864" cy="64008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346704"/>
            <a:ext cx="347472" cy="34747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960120" y="33009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管理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960120" y="35478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提示词模板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2423160" y="3255264"/>
            <a:ext cx="1874520" cy="640080"/>
          </a:xfrm>
          <a:prstGeom prst="rect">
            <a:avLst/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2423160" y="3255264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2888" y="3346704"/>
            <a:ext cx="347472" cy="347472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2926080" y="33009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成本统计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2926080" y="35478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按模型维度费用分布</a:t>
            </a:r>
            <a:endParaRPr lang="en-US" sz="800" dirty="0"/>
          </a:p>
        </p:txBody>
      </p:sp>
      <p:sp>
        <p:nvSpPr>
          <p:cNvPr id="53" name="Shape 45"/>
          <p:cNvSpPr/>
          <p:nvPr/>
        </p:nvSpPr>
        <p:spPr>
          <a:xfrm>
            <a:off x="457200" y="3968496"/>
            <a:ext cx="1874520" cy="640080"/>
          </a:xfrm>
          <a:prstGeom prst="rect">
            <a:avLst/>
          </a:prstGeom>
          <a:solidFill>
            <a:srgbClr val="0EA5E9">
              <a:alpha val="10000"/>
            </a:srgbClr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457200" y="3968496"/>
            <a:ext cx="54864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5" name="Text 47"/>
          <p:cNvSpPr/>
          <p:nvPr/>
        </p:nvSpPr>
        <p:spPr>
          <a:xfrm>
            <a:off x="960120" y="401421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审计日志</a:t>
            </a:r>
            <a:endParaRPr lang="en-US" sz="950" dirty="0"/>
          </a:p>
        </p:txBody>
      </p:sp>
      <p:sp>
        <p:nvSpPr>
          <p:cNvPr id="56" name="Text 48"/>
          <p:cNvSpPr/>
          <p:nvPr/>
        </p:nvSpPr>
        <p:spPr>
          <a:xfrm>
            <a:off x="960120" y="42611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调用详细记录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2423160" y="3968496"/>
            <a:ext cx="1874520" cy="640080"/>
          </a:xfrm>
          <a:prstGeom prst="rect">
            <a:avLst/>
          </a:prstGeom>
          <a:solidFill>
            <a:srgbClr val="8B5CF6">
              <a:alpha val="1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2423160" y="3968496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9" name="Text 51"/>
          <p:cNvSpPr/>
          <p:nvPr/>
        </p:nvSpPr>
        <p:spPr>
          <a:xfrm>
            <a:off x="2926080" y="401421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治理策略</a:t>
            </a:r>
            <a:endParaRPr lang="en-US" sz="950" dirty="0"/>
          </a:p>
        </p:txBody>
      </p:sp>
      <p:sp>
        <p:nvSpPr>
          <p:cNvPr id="60" name="Text 52"/>
          <p:cNvSpPr/>
          <p:nvPr/>
        </p:nvSpPr>
        <p:spPr>
          <a:xfrm>
            <a:off x="2926080" y="42611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内容安全配置</a:t>
            </a:r>
            <a:endParaRPr lang="en-US" sz="800" dirty="0"/>
          </a:p>
        </p:txBody>
      </p:sp>
      <p:sp>
        <p:nvSpPr>
          <p:cNvPr id="61" name="Shape 53"/>
          <p:cNvSpPr/>
          <p:nvPr/>
        </p:nvSpPr>
        <p:spPr>
          <a:xfrm>
            <a:off x="4572000" y="1444752"/>
            <a:ext cx="420624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Shape 54"/>
          <p:cNvSpPr/>
          <p:nvPr/>
        </p:nvSpPr>
        <p:spPr>
          <a:xfrm>
            <a:off x="4572000" y="1444752"/>
            <a:ext cx="42062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Text 55"/>
          <p:cNvSpPr/>
          <p:nvPr/>
        </p:nvSpPr>
        <p:spPr>
          <a:xfrm>
            <a:off x="466344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按模型成本统计（真实数据）</a:t>
            </a:r>
            <a:endParaRPr lang="en-US" sz="1100" dirty="0"/>
          </a:p>
        </p:txBody>
      </p:sp>
      <p:sp>
        <p:nvSpPr>
          <p:cNvPr id="64" name="Shape 56"/>
          <p:cNvSpPr/>
          <p:nvPr/>
        </p:nvSpPr>
        <p:spPr>
          <a:xfrm>
            <a:off x="4663440" y="1828800"/>
            <a:ext cx="4023360" cy="530352"/>
          </a:xfrm>
          <a:prstGeom prst="rect">
            <a:avLst/>
          </a:prstGeom>
          <a:solidFill>
            <a:srgbClr val="0891B2">
              <a:alpha val="12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4663440" y="1828800"/>
            <a:ext cx="54864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6" name="Text 58"/>
          <p:cNvSpPr/>
          <p:nvPr/>
        </p:nvSpPr>
        <p:spPr>
          <a:xfrm>
            <a:off x="4773168" y="1874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DeepSeek-V3</a:t>
            </a:r>
            <a:endParaRPr lang="en-US" sz="950" dirty="0"/>
          </a:p>
        </p:txBody>
      </p:sp>
      <p:sp>
        <p:nvSpPr>
          <p:cNvPr id="67" name="Text 59"/>
          <p:cNvSpPr/>
          <p:nvPr/>
        </p:nvSpPr>
        <p:spPr>
          <a:xfrm>
            <a:off x="4773168" y="20848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1,234 调用  |  580K tokens</a:t>
            </a:r>
            <a:endParaRPr lang="en-US" sz="800" dirty="0"/>
          </a:p>
        </p:txBody>
      </p:sp>
      <p:sp>
        <p:nvSpPr>
          <p:cNvPr id="68" name="Text 60"/>
          <p:cNvSpPr/>
          <p:nvPr/>
        </p:nvSpPr>
        <p:spPr>
          <a:xfrm>
            <a:off x="7680960" y="182880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¥289.50</a:t>
            </a:r>
            <a:endParaRPr lang="en-US" sz="1400" dirty="0"/>
          </a:p>
        </p:txBody>
      </p:sp>
      <p:sp>
        <p:nvSpPr>
          <p:cNvPr id="69" name="Shape 61"/>
          <p:cNvSpPr/>
          <p:nvPr/>
        </p:nvSpPr>
        <p:spPr>
          <a:xfrm>
            <a:off x="4663440" y="2423160"/>
            <a:ext cx="4023360" cy="530352"/>
          </a:xfrm>
          <a:prstGeom prst="rect">
            <a:avLst/>
          </a:prstGeom>
          <a:solidFill>
            <a:srgbClr val="6366F1">
              <a:alpha val="12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4663440" y="2423160"/>
            <a:ext cx="54864" cy="5303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1" name="Text 63"/>
          <p:cNvSpPr/>
          <p:nvPr/>
        </p:nvSpPr>
        <p:spPr>
          <a:xfrm>
            <a:off x="4773168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Qwen-Max</a:t>
            </a:r>
            <a:endParaRPr lang="en-US" sz="950" dirty="0"/>
          </a:p>
        </p:txBody>
      </p:sp>
      <p:sp>
        <p:nvSpPr>
          <p:cNvPr id="72" name="Text 64"/>
          <p:cNvSpPr/>
          <p:nvPr/>
        </p:nvSpPr>
        <p:spPr>
          <a:xfrm>
            <a:off x="4773168" y="26791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456 调用  |  890K tokens</a:t>
            </a:r>
            <a:endParaRPr lang="en-US" sz="800" dirty="0"/>
          </a:p>
        </p:txBody>
      </p:sp>
      <p:sp>
        <p:nvSpPr>
          <p:cNvPr id="73" name="Text 65"/>
          <p:cNvSpPr/>
          <p:nvPr/>
        </p:nvSpPr>
        <p:spPr>
          <a:xfrm>
            <a:off x="7680960" y="242316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¥534.00</a:t>
            </a:r>
            <a:endParaRPr lang="en-US" sz="1400" dirty="0"/>
          </a:p>
        </p:txBody>
      </p:sp>
      <p:sp>
        <p:nvSpPr>
          <p:cNvPr id="74" name="Shape 66"/>
          <p:cNvSpPr/>
          <p:nvPr/>
        </p:nvSpPr>
        <p:spPr>
          <a:xfrm>
            <a:off x="4663440" y="3017520"/>
            <a:ext cx="4023360" cy="530352"/>
          </a:xfrm>
          <a:prstGeom prst="rect">
            <a:avLst/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75" name="Shape 67"/>
          <p:cNvSpPr/>
          <p:nvPr/>
        </p:nvSpPr>
        <p:spPr>
          <a:xfrm>
            <a:off x="4663440" y="3017520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6" name="Text 68"/>
          <p:cNvSpPr/>
          <p:nvPr/>
        </p:nvSpPr>
        <p:spPr>
          <a:xfrm>
            <a:off x="4773168" y="3063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MiniMax-M3</a:t>
            </a:r>
            <a:endParaRPr lang="en-US" sz="950" dirty="0"/>
          </a:p>
        </p:txBody>
      </p:sp>
      <p:sp>
        <p:nvSpPr>
          <p:cNvPr id="77" name="Text 69"/>
          <p:cNvSpPr/>
          <p:nvPr/>
        </p:nvSpPr>
        <p:spPr>
          <a:xfrm>
            <a:off x="4773168" y="32735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调用  |  120K tokens</a:t>
            </a:r>
            <a:endParaRPr lang="en-US" sz="800" dirty="0"/>
          </a:p>
        </p:txBody>
      </p:sp>
      <p:sp>
        <p:nvSpPr>
          <p:cNvPr id="78" name="Text 70"/>
          <p:cNvSpPr/>
          <p:nvPr/>
        </p:nvSpPr>
        <p:spPr>
          <a:xfrm>
            <a:off x="7680960" y="301752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¥72.00</a:t>
            </a:r>
            <a:endParaRPr lang="en-US" sz="1400" dirty="0"/>
          </a:p>
        </p:txBody>
      </p:sp>
      <p:sp>
        <p:nvSpPr>
          <p:cNvPr id="79" name="Shape 71"/>
          <p:cNvSpPr/>
          <p:nvPr/>
        </p:nvSpPr>
        <p:spPr>
          <a:xfrm>
            <a:off x="4663440" y="3639312"/>
            <a:ext cx="402336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80" name="Text 72"/>
          <p:cNvSpPr/>
          <p:nvPr/>
        </p:nvSpPr>
        <p:spPr>
          <a:xfrm>
            <a:off x="4773168" y="3675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</a:t>
            </a:r>
            <a:endParaRPr lang="en-US" sz="950" dirty="0"/>
          </a:p>
        </p:txBody>
      </p:sp>
      <p:sp>
        <p:nvSpPr>
          <p:cNvPr id="81" name="Text 73"/>
          <p:cNvSpPr/>
          <p:nvPr/>
        </p:nvSpPr>
        <p:spPr>
          <a:xfrm>
            <a:off x="576072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1,779 调用  |  1.59M tokens  |  ¥895.50</a:t>
            </a:r>
            <a:endParaRPr lang="en-US" sz="900" dirty="0"/>
          </a:p>
        </p:txBody>
      </p:sp>
      <p:sp>
        <p:nvSpPr>
          <p:cNvPr id="82" name="Text 74"/>
          <p:cNvSpPr/>
          <p:nvPr/>
        </p:nvSpPr>
        <p:spPr>
          <a:xfrm>
            <a:off x="7680960" y="3675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¥895.50</a:t>
            </a:r>
            <a:endParaRPr lang="en-US" sz="1400" dirty="0"/>
          </a:p>
        </p:txBody>
      </p:sp>
      <p:sp>
        <p:nvSpPr>
          <p:cNvPr id="83" name="Text 75"/>
          <p:cNvSpPr/>
          <p:nvPr/>
        </p:nvSpPr>
        <p:spPr>
          <a:xfrm>
            <a:off x="365760" y="50292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个细粒度权限码  |  4 种预置角色（admin/teacher/project_leader/student_member）  |  JWT + RBAC 安全模型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六大核心创新点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12064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58368"/>
            <a:ext cx="269748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749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331720" y="768096"/>
            <a:ext cx="594360" cy="502920"/>
          </a:xfrm>
          <a:prstGeom prst="oval">
            <a:avLst/>
          </a:prstGeom>
          <a:solidFill>
            <a:srgbClr val="0891B2">
              <a:alpha val="8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822960"/>
            <a:ext cx="457200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1252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学习智能体操作系统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6184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不是单一工具，覆盖从知识库建立到效果评估的完整学习链路，而非碎片化的单点功能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658368"/>
            <a:ext cx="269748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10128" y="749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166360" y="768096"/>
            <a:ext cx="594360" cy="502920"/>
          </a:xfrm>
          <a:prstGeom prst="oval">
            <a:avLst/>
          </a:prstGeom>
          <a:solidFill>
            <a:srgbClr val="6366F1">
              <a:alpha val="8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822960"/>
            <a:ext cx="457200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1252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5智能体 LangGraph 协作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10128" y="16184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条件路由 + 自动返工（≤3次）+ SSE 流式输出，全程可视化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35040" y="658368"/>
            <a:ext cx="269748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144768" y="749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8001000" y="768096"/>
            <a:ext cx="594360" cy="502920"/>
          </a:xfrm>
          <a:prstGeom prst="oval">
            <a:avLst/>
          </a:prstGeom>
          <a:solidFill>
            <a:srgbClr val="10B981">
              <a:alpha val="80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822960"/>
            <a:ext cx="457200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44768" y="1252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证据锁定式 RAG 防幻觉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44768" y="16184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检索 + 引用校验 + 可信度评分，从根本上防止 AI 幻觉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65760" y="2852928"/>
            <a:ext cx="269748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75488" y="29443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2331720" y="2962656"/>
            <a:ext cx="594360" cy="502920"/>
          </a:xfrm>
          <a:prstGeom prst="oval">
            <a:avLst/>
          </a:prstGeom>
          <a:solidFill>
            <a:srgbClr val="F59E0B">
              <a:alpha val="8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3017520"/>
            <a:ext cx="457200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5488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10维度动态画像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5488" y="38130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对话式构建 + 反馈驱动更新，真正实现因材施教的数字化落地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00400" y="2852928"/>
            <a:ext cx="269748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3310128" y="29443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5166360" y="2962656"/>
            <a:ext cx="594360" cy="502920"/>
          </a:xfrm>
          <a:prstGeom prst="oval">
            <a:avLst/>
          </a:prstGeom>
          <a:solidFill>
            <a:srgbClr val="F97316">
              <a:alpha val="80000"/>
            </a:srgb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3017520"/>
            <a:ext cx="457200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310128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8类资源差异化渲染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310128" y="38130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/ 代码 / 表格 / 思维导图 / 时间轴，多模态卡片化展示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035040" y="2852928"/>
            <a:ext cx="269748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144768" y="29443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Shape 29"/>
          <p:cNvSpPr/>
          <p:nvPr/>
        </p:nvSpPr>
        <p:spPr>
          <a:xfrm>
            <a:off x="8001000" y="2962656"/>
            <a:ext cx="594360" cy="502920"/>
          </a:xfrm>
          <a:prstGeom prst="oval">
            <a:avLst/>
          </a:prstGeom>
          <a:solidFill>
            <a:srgbClr val="EC4899">
              <a:alpha val="80000"/>
            </a:srgbClr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008" y="3017520"/>
            <a:ext cx="457200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144768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平台级治理能力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144768" y="38130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成本审计 + 调用日志 + 内容安全，适合真实教学场景落地运营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快速启动 · 可运行演示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12064"/>
            <a:ext cx="8412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21792"/>
            <a:ext cx="48463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6583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后端（端口 8000）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961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app.main:app --reload --port 8000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前端（端口 5173）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Docker Compose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49240" y="621792"/>
            <a:ext cx="34290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49240" y="621792"/>
            <a:ext cx="34290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640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测试账号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1005840"/>
            <a:ext cx="914400" cy="384048"/>
          </a:xfrm>
          <a:prstGeom prst="rect">
            <a:avLst/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005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46520" y="1005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Admin@123456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1463040"/>
            <a:ext cx="914400" cy="384048"/>
          </a:xfrm>
          <a:prstGeom prst="rect">
            <a:avLst/>
          </a:prstGeom>
          <a:solidFill>
            <a:srgbClr val="0891B2">
              <a:alpha val="15000"/>
            </a:srgbClr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463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14630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teacher01 / Teacher@123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1920240"/>
            <a:ext cx="914400" cy="384048"/>
          </a:xfrm>
          <a:prstGeom prst="rect">
            <a:avLst/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920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46520" y="19202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student01 / Student@123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542032"/>
            <a:ext cx="84124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542032"/>
            <a:ext cx="84124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演示亮点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999232"/>
            <a:ext cx="137160" cy="137160"/>
          </a:xfrm>
          <a:prstGeom prst="oval">
            <a:avLst/>
          </a:prstGeom>
          <a:solidFill>
            <a:srgbClr val="0891B2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99232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41248" y="2926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开箱即演示：数据库含 3 门课程 + 种子数据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663440" y="2999232"/>
            <a:ext cx="137160" cy="137160"/>
          </a:xfrm>
          <a:prstGeom prst="oval">
            <a:avLst/>
          </a:prstGeom>
          <a:solidFill>
            <a:srgbClr val="6366F1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999232"/>
            <a:ext cx="320040" cy="3200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047488" y="2926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Mock 模式：无 API Key 也能完整演示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57200" y="3657600"/>
            <a:ext cx="137160" cy="137160"/>
          </a:xfrm>
          <a:prstGeom prst="oval">
            <a:avLst/>
          </a:prstGeom>
          <a:solidFill>
            <a:srgbClr val="10B981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320040" cy="3200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41248" y="35844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全链路跑通：知识库→画像→生成→审核→学习→反馈→闭环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663440" y="3657600"/>
            <a:ext cx="137160" cy="137160"/>
          </a:xfrm>
          <a:prstGeom prst="oval">
            <a:avLst/>
          </a:prstGeom>
          <a:solidFill>
            <a:srgbClr val="F59E0B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657600"/>
            <a:ext cx="320040" cy="32004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047488" y="35844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一键启动（PostgreSQL / Redis / MinIO / Celery）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57200" y="4315968"/>
            <a:ext cx="137160" cy="137160"/>
          </a:xfrm>
          <a:prstGeom prst="oval">
            <a:avLst/>
          </a:prstGeom>
          <a:solidFill>
            <a:srgbClr val="F97316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15968"/>
            <a:ext cx="320040" cy="32004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41248" y="424281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文档：访问 http://localhost:8000/docs（Swagger UI）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4663440" y="4315968"/>
            <a:ext cx="137160" cy="137160"/>
          </a:xfrm>
          <a:prstGeom prst="oval">
            <a:avLst/>
          </a:prstGeom>
          <a:solidFill>
            <a:srgbClr val="EC4899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315968"/>
            <a:ext cx="320040" cy="32004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047488" y="424281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预置课程：数据库系统原理 / Python程序设计 / 计算机网络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274320"/>
            <a:ext cx="1828800" cy="1828800"/>
          </a:xfrm>
          <a:prstGeom prst="oval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1828800"/>
            <a:ext cx="1371600" cy="1371600"/>
          </a:xfrm>
          <a:prstGeom prst="oval">
            <a:avLst/>
          </a:prstGeom>
          <a:solidFill>
            <a:srgbClr val="14B8A6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502920"/>
            <a:ext cx="1097280" cy="10972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108960"/>
            <a:ext cx="731520" cy="731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10972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7200" dirty="0"/>
          </a:p>
        </p:txBody>
      </p:sp>
      <p:sp>
        <p:nvSpPr>
          <p:cNvPr id="10" name="Text 5"/>
          <p:cNvSpPr/>
          <p:nvPr/>
        </p:nvSpPr>
        <p:spPr>
          <a:xfrm>
            <a:off x="457200" y="21031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Q&amp;A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欢迎提问交流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457200" y="4343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第十五届中国软件杯大赛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— 基于大模型的个性化资源生成与学习多智能体系统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943600" y="4343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科大讯飞股份有限公司 出题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2026-07-14T09:26:07Z</dcterms:created>
  <dcterms:modified xsi:type="dcterms:W3CDTF">2026-07-14T09:26:07Z</dcterms:modified>
</cp:coreProperties>
</file>