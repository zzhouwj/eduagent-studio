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开场强调：项目不是单次生成工具，而是课程证据、学生状态、智能体协作、教师审核和学习反馈组成的闭环。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解释三类行业问题，并用右侧闭环说明我们如何逐项落地 A3 必做能力。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说明产品不是把功能塞进一个首页。对话是学生主入口，教师与管理员保留高密度专业工作台。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架构陈述严格对应当前仓库。特别说明检索基于 MySQL chunk 与 BM25，不写不存在的 pgvector。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展示事务与 ACID 的真实检索结果，强调 chunk ID、原文与教师确认关联。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截图中指认节点轨迹、质量分、修订次数和生成结果。Teacher Review Agent 只给建议，最终发布由教师决定。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说明个性化不是 Prompt 里一句话，而是学生确认的结构化画像和持续更新的知识点掌握度。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现场指认用户问题、ACID 引用、两道判断题和反馈按钮。强调开发模式也执行真实课程检索。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展示最近反馈、关联资源、掌握度和下一步推荐，说明反馈如何进入画像和推荐。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当前页使用可编辑治理矩阵，避免在没有管理员截图的情况下伪造界面。答辩时可切到真实管理端展示。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明确 271 项测试是当前全量结果。外部讯飞凭证联调和最终 MP4 不计入已完成基线。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收束差异化，并主动说明真实外部 API、MP4 和 pip-audit 的交付边界。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28016" cy="5440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097280"/>
            <a:ext cx="49377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</a:rPr>
              <a:t>智学工坊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755648"/>
            <a:ext cx="5303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8DE2D8"/>
                </a:solidFill>
                <a:latin typeface="Aptos"/>
              </a:rPr>
              <a:t>EduAgent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487168"/>
            <a:ext cx="48920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6E0E8"/>
                </a:solidFill>
                <a:latin typeface="PingFang SC"/>
              </a:rPr>
              <a:t>基于课程证据的个性化学习与多智能体资源平台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730752"/>
            <a:ext cx="484632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EADB9"/>
                </a:solidFill>
                <a:latin typeface="PingFang SC"/>
              </a:rPr>
              <a:t>不是问答 Demo，而是可追溯、可审核、会持续更新的学习闭环。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170432"/>
            <a:ext cx="1600200" cy="658368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353312"/>
            <a:ext cx="1600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课程证据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72600" y="1536192"/>
            <a:ext cx="1600200" cy="658368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25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1719072"/>
            <a:ext cx="1600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学生状态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4096512"/>
            <a:ext cx="1600200" cy="658368"/>
          </a:xfrm>
          <a:prstGeom prst="roundRect">
            <a:avLst/>
          </a:prstGeom>
          <a:solidFill>
            <a:srgbClr val="DB6257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4279392"/>
            <a:ext cx="1600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教师审核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4663440"/>
            <a:ext cx="1600200" cy="658368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25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4846320"/>
            <a:ext cx="1600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学习反馈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743200"/>
            <a:ext cx="1600200" cy="658368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926080"/>
            <a:ext cx="1600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智能体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708392" y="1536192"/>
            <a:ext cx="2468880" cy="292608"/>
          </a:xfrm>
          <a:prstGeom prst="line">
            <a:avLst/>
          </a:prstGeom>
          <a:ln w="19050">
            <a:solidFill>
              <a:srgbClr val="5367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77272" y="2194560"/>
            <a:ext cx="274320" cy="1901952"/>
          </a:xfrm>
          <a:prstGeom prst="line">
            <a:avLst/>
          </a:prstGeom>
          <a:ln w="19050">
            <a:solidFill>
              <a:srgbClr val="5367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8165592" y="4663440"/>
            <a:ext cx="2286000" cy="91440"/>
          </a:xfrm>
          <a:prstGeom prst="line">
            <a:avLst/>
          </a:prstGeom>
          <a:ln w="19050">
            <a:solidFill>
              <a:srgbClr val="5367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165592" y="2743200"/>
            <a:ext cx="868680" cy="2578607"/>
          </a:xfrm>
          <a:prstGeom prst="line">
            <a:avLst/>
          </a:prstGeom>
          <a:ln w="19050">
            <a:solidFill>
              <a:srgbClr val="5367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7708392" y="1170432"/>
            <a:ext cx="1325880" cy="2231136"/>
          </a:xfrm>
          <a:prstGeom prst="line">
            <a:avLst/>
          </a:prstGeom>
          <a:ln w="19050">
            <a:solidFill>
              <a:srgbClr val="5367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1560" y="5989320"/>
            <a:ext cx="5029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192A1"/>
                </a:solidFill>
                <a:latin typeface="Aptos"/>
              </a:rPr>
              <a:t>第十五届中国软件杯 · A3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FROM REQUIREMENTS TO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赛题要求转化为一条真实闭环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2971800" cy="841248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F2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673352"/>
            <a:ext cx="96012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B6257"/>
                </a:solidFill>
                <a:latin typeface="PingFang SC"/>
              </a:rPr>
              <a:t>通用生成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1682495"/>
            <a:ext cx="160934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不了解具体课程证据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97480"/>
            <a:ext cx="2971800" cy="841248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F2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16352"/>
            <a:ext cx="96012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B6257"/>
                </a:solidFill>
                <a:latin typeface="PingFang SC"/>
              </a:rPr>
              <a:t>静态画像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2825496"/>
            <a:ext cx="160934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无法反映学习变化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2971800" cy="841248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F2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959352"/>
            <a:ext cx="96012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B6257"/>
                </a:solidFill>
                <a:latin typeface="PingFang SC"/>
              </a:rPr>
              <a:t>直接发布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968496"/>
            <a:ext cx="160934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未经审核放大内容风险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417320"/>
            <a:ext cx="2743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1563624"/>
            <a:ext cx="24688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课程知识库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0" y="1965960"/>
            <a:ext cx="0" cy="292608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2276856"/>
            <a:ext cx="2743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423160"/>
            <a:ext cx="24688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12 维画像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2825496"/>
            <a:ext cx="0" cy="292608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72000" y="3136391"/>
            <a:ext cx="2743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282696"/>
            <a:ext cx="24688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五智能体生成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00" y="3685031"/>
            <a:ext cx="0" cy="292608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72000" y="3995928"/>
            <a:ext cx="2743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4142232"/>
            <a:ext cx="24688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教师审核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0" y="4544568"/>
            <a:ext cx="0" cy="292608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72000" y="4855464"/>
            <a:ext cx="2743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5001768"/>
            <a:ext cx="24688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学习与反馈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1444752"/>
            <a:ext cx="3429000" cy="4114800"/>
          </a:xfrm>
          <a:prstGeom prst="roundRect">
            <a:avLst/>
          </a:prstGeom>
          <a:solidFill>
            <a:srgbClr val="17202A"/>
          </a:solidFill>
          <a:ln w="12700"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1755648"/>
            <a:ext cx="28346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DE2D8"/>
                </a:solidFill>
                <a:latin typeface="Aptos"/>
              </a:rPr>
              <a:t>CURRENT 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2331720"/>
            <a:ext cx="10972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2880360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FC0CC"/>
                </a:solidFill>
                <a:latin typeface="PingFang SC"/>
              </a:rPr>
              <a:t>完整课程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2331720"/>
            <a:ext cx="10972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19" y="2880360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FC0CC"/>
                </a:solidFill>
                <a:latin typeface="PingFang SC"/>
              </a:rPr>
              <a:t>章节证据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3657600"/>
            <a:ext cx="10972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9" y="4206240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FC0CC"/>
                </a:solidFill>
                <a:latin typeface="PingFang SC"/>
              </a:rPr>
              <a:t>画像维度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19" y="3657600"/>
            <a:ext cx="10972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19" y="4206240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FC0CC"/>
                </a:solidFill>
                <a:latin typeface="PingFang SC"/>
              </a:rPr>
              <a:t>资源类型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3879" y="4864608"/>
            <a:ext cx="274320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E0E8"/>
                </a:solidFill>
                <a:latin typeface="PingFang SC"/>
              </a:rPr>
              <a:t>必做项不是页面清单，而是可持续运行的数据链。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PRODUCT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对话入口与专业工作台并存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1170432" cy="80467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170432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</a:rPr>
              <a:t>学生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508760"/>
            <a:ext cx="1383792" cy="80467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1764792"/>
            <a:ext cx="129235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PingFang SC"/>
              </a:rPr>
              <a:t>Tutor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0920" y="1508760"/>
            <a:ext cx="1383792" cy="80467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6640" y="1764792"/>
            <a:ext cx="129235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PingFang SC"/>
              </a:rPr>
              <a:t>画像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4440" y="1508760"/>
            <a:ext cx="1383792" cy="80467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0160" y="1764792"/>
            <a:ext cx="129235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PingFang SC"/>
              </a:rPr>
              <a:t>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508760"/>
            <a:ext cx="1383792" cy="80467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764792"/>
            <a:ext cx="129235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PingFang SC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1480" y="1508760"/>
            <a:ext cx="1383792" cy="80467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7200" y="1764792"/>
            <a:ext cx="129235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PingFang SC"/>
              </a:rPr>
              <a:t>资源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25000" y="1508760"/>
            <a:ext cx="1383792" cy="80467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0720" y="1764792"/>
            <a:ext cx="129235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PingFang SC"/>
              </a:rPr>
              <a:t>反馈/报告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834639"/>
            <a:ext cx="1170432" cy="80467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81527"/>
            <a:ext cx="1170432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</a:rPr>
              <a:t>教师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7400" y="2834639"/>
            <a:ext cx="1682496" cy="80467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03120" y="3090672"/>
            <a:ext cx="1591056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F766E"/>
                </a:solidFill>
                <a:latin typeface="PingFang SC"/>
              </a:rPr>
              <a:t>课程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9624" y="2834639"/>
            <a:ext cx="1682496" cy="80467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5344" y="3090672"/>
            <a:ext cx="1591056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F766E"/>
                </a:solidFill>
                <a:latin typeface="PingFang SC"/>
              </a:rPr>
              <a:t>知识库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41848" y="2834639"/>
            <a:ext cx="1682496" cy="80467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7568" y="3090672"/>
            <a:ext cx="1591056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F766E"/>
                </a:solidFill>
                <a:latin typeface="PingFang SC"/>
              </a:rPr>
              <a:t>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34072" y="2834639"/>
            <a:ext cx="1682496" cy="80467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9792" y="3090672"/>
            <a:ext cx="1591056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F766E"/>
                </a:solidFill>
                <a:latin typeface="PingFang SC"/>
              </a:rPr>
              <a:t>审核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26296" y="2834639"/>
            <a:ext cx="1682496" cy="80467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72016" y="3090672"/>
            <a:ext cx="1591056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F766E"/>
                </a:solidFill>
                <a:latin typeface="PingFang SC"/>
              </a:rPr>
              <a:t>学情分析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160520"/>
            <a:ext cx="1170432" cy="804672"/>
          </a:xfrm>
          <a:prstGeom prst="roundRect">
            <a:avLst/>
          </a:prstGeom>
          <a:solidFill>
            <a:srgbClr val="DB6257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407408"/>
            <a:ext cx="1170432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</a:rPr>
              <a:t>管理员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57400" y="4160520"/>
            <a:ext cx="2130552" cy="804672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03120" y="4416552"/>
            <a:ext cx="203911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DB6257"/>
                </a:solidFill>
                <a:latin typeface="PingFang SC"/>
              </a:rPr>
              <a:t>用户/课程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160520"/>
            <a:ext cx="2130552" cy="804672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43400" y="4416552"/>
            <a:ext cx="203911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DB6257"/>
                </a:solidFill>
                <a:latin typeface="PingFang SC"/>
              </a:rPr>
              <a:t>模型/Prompt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7960" y="4160520"/>
            <a:ext cx="2130552" cy="804672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416552"/>
            <a:ext cx="203911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DB6257"/>
                </a:solidFill>
                <a:latin typeface="PingFang SC"/>
              </a:rPr>
              <a:t>成本/安全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4160520"/>
            <a:ext cx="2130552" cy="804672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3960" y="4416552"/>
            <a:ext cx="2039112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DB6257"/>
                </a:solidFill>
                <a:latin typeface="PingFang SC"/>
              </a:rPr>
              <a:t>审计日志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596128"/>
            <a:ext cx="10927080" cy="530352"/>
          </a:xfrm>
          <a:prstGeom prst="roundRect">
            <a:avLst/>
          </a:prstGeom>
          <a:solidFill>
            <a:srgbClr val="17202A"/>
          </a:solidFill>
          <a:ln w="12700"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742432"/>
            <a:ext cx="104698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统一数据层  ·  课程  ·  知识点  ·  画像  ·  掌握度  ·  资源  ·  证据  ·  审核  ·  反馈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IMPLEMENTED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真实实施架构：统一业务、安全与证据边界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1417320"/>
            <a:ext cx="9784080" cy="65836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536192"/>
            <a:ext cx="292608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PingFang SC"/>
              </a:rPr>
              <a:t>React 18 SPA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545336"/>
            <a:ext cx="6446519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三角色路由 · Zustand · 可访问响应式界面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80744" y="2295144"/>
            <a:ext cx="9400032" cy="658368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63624" y="2414015"/>
            <a:ext cx="292608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PingFang SC"/>
              </a:rPr>
              <a:t>REST + SSE /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423160"/>
            <a:ext cx="6062471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认证 · RBAC · 课程数据域 · Pydantic 合约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172968"/>
            <a:ext cx="9015984" cy="658368"/>
          </a:xfrm>
          <a:prstGeom prst="roundRect">
            <a:avLst/>
          </a:prstGeom>
          <a:solidFill>
            <a:srgbClr val="E8EDF1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3291839"/>
            <a:ext cx="292608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374151"/>
                </a:solidFill>
                <a:latin typeface="PingFang SC"/>
              </a:rPr>
              <a:t>Service / Repository / Transaction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300984"/>
            <a:ext cx="5678423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LangGraph · Tutor Supervisor · LLM Gateway · Safety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64792" y="4050791"/>
            <a:ext cx="8631936" cy="658368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7672" y="4169663"/>
            <a:ext cx="292608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B6257"/>
                </a:solidFill>
                <a:latin typeface="PingFang SC"/>
              </a:rPr>
              <a:t>Course RAG +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2" y="4178807"/>
            <a:ext cx="5294375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MySQL chunk · BM25 · 中文 n-gram · 引用校验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56816" y="4928616"/>
            <a:ext cx="8247888" cy="658368"/>
          </a:xfrm>
          <a:prstGeom prst="roundRect">
            <a:avLst/>
          </a:prstGeom>
          <a:solidFill>
            <a:srgbClr val="DCE3E8"/>
          </a:solidFill>
          <a:ln w="12700"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047488"/>
            <a:ext cx="292608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PingFang SC"/>
              </a:rP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5056631"/>
            <a:ext cx="4910327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02B37"/>
                </a:solidFill>
                <a:latin typeface="PingFang SC"/>
              </a:rPr>
              <a:t>MySQL 8 · Redis 7 · SQLite Checkpoint · Persistent 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879592"/>
            <a:ext cx="5852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DB6257"/>
                </a:solidFill>
                <a:latin typeface="PingFang SC"/>
              </a:rPr>
              <a:t>当前链路不依赖 PostgreSQL / pgvector / MinIO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COURSE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课程知识库：生成结果可以回到原文核对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44752"/>
            <a:ext cx="786384" cy="62179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627632"/>
            <a:ext cx="731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PingFang SC"/>
              </a:rPr>
              <a:t>上传校验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08176" y="1755648"/>
            <a:ext cx="128016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536192" y="1444752"/>
            <a:ext cx="786384" cy="62179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63624" y="1627632"/>
            <a:ext cx="731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PingFang SC"/>
              </a:rPr>
              <a:t>版本分块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22576" y="1755648"/>
            <a:ext cx="128016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50592" y="1444752"/>
            <a:ext cx="786384" cy="62179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78024" y="1627632"/>
            <a:ext cx="731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PingFang SC"/>
              </a:rPr>
              <a:t>教师关联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6976" y="1755648"/>
            <a:ext cx="128016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64992" y="1444752"/>
            <a:ext cx="786384" cy="62179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2424" y="1627632"/>
            <a:ext cx="731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PingFang SC"/>
              </a:rPr>
              <a:t>BM25 检索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51376" y="1755648"/>
            <a:ext cx="128016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79392" y="1444752"/>
            <a:ext cx="786384" cy="621792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06824" y="1627632"/>
            <a:ext cx="731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PingFang SC"/>
              </a:rPr>
              <a:t>引用校验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468880"/>
            <a:ext cx="182880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7202A"/>
                </a:solidFill>
                <a:latin typeface="Aptos"/>
              </a:rPr>
              <a:t>9/9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127248"/>
            <a:ext cx="24688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07080"/>
                </a:solidFill>
                <a:latin typeface="PingFang SC"/>
              </a:rPr>
              <a:t>CS301 主题可召回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" y="3657600"/>
            <a:ext cx="338328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202B37"/>
                </a:solidFill>
                <a:latin typeface="PingFang SC"/>
              </a:defRPr>
            </a:pPr>
            <a:r>
              <a:rPr sz="1200">
                <a:solidFill>
                  <a:srgbClr val="202B37"/>
                </a:solidFill>
                <a:latin typeface="PingFang SC"/>
              </a:rPr>
              <a:t>●  9 个章节</a:t>
            </a:r>
          </a:p>
          <a:p>
            <a:pPr>
              <a:spcAft>
                <a:spcPts val="1000"/>
              </a:spcAft>
              <a:defRPr sz="1200">
                <a:solidFill>
                  <a:srgbClr val="202B37"/>
                </a:solidFill>
                <a:latin typeface="PingFang SC"/>
              </a:defRPr>
            </a:pPr>
            <a:r>
              <a:rPr sz="1200">
                <a:solidFill>
                  <a:srgbClr val="202B37"/>
                </a:solidFill>
                <a:latin typeface="PingFang SC"/>
              </a:rPr>
              <a:t>●  9 个知识点</a:t>
            </a:r>
          </a:p>
          <a:p>
            <a:pPr>
              <a:spcAft>
                <a:spcPts val="1000"/>
              </a:spcAft>
              <a:defRPr sz="1200">
                <a:solidFill>
                  <a:srgbClr val="202B37"/>
                </a:solidFill>
                <a:latin typeface="PingFang SC"/>
              </a:defRPr>
            </a:pPr>
            <a:r>
              <a:rPr sz="1200">
                <a:solidFill>
                  <a:srgbClr val="202B37"/>
                </a:solidFill>
                <a:latin typeface="PingFang SC"/>
              </a:rPr>
              <a:t>●  9 条 confirmed 关联</a:t>
            </a:r>
          </a:p>
          <a:p>
            <a:pPr>
              <a:spcAft>
                <a:spcPts val="1000"/>
              </a:spcAft>
              <a:defRPr sz="1200">
                <a:solidFill>
                  <a:srgbClr val="202B37"/>
                </a:solidFill>
                <a:latin typeface="PingFang SC"/>
              </a:defRPr>
            </a:pPr>
            <a:r>
              <a:rPr sz="1200">
                <a:solidFill>
                  <a:srgbClr val="202B37"/>
                </a:solidFill>
                <a:latin typeface="PingFang SC"/>
              </a:rPr>
              <a:t>●  无证据则降级为草稿</a:t>
            </a:r>
          </a:p>
        </p:txBody>
      </p:sp>
      <p:pic>
        <p:nvPicPr>
          <p:cNvPr id="25" name="Picture 24" descr="teacher-knowledge-base.png"/>
          <p:cNvPicPr>
            <a:picLocks noChangeAspect="1"/>
          </p:cNvPicPr>
          <p:nvPr/>
        </p:nvPicPr>
        <p:blipFill>
          <a:blip r:embed="rId2"/>
          <a:srcRect t="3579" b="3579"/>
          <a:stretch>
            <a:fillRect/>
          </a:stretch>
        </p:blipFill>
        <p:spPr>
          <a:xfrm>
            <a:off x="4617720" y="2176272"/>
            <a:ext cx="6949440" cy="403250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617720" y="2176272"/>
            <a:ext cx="6949440" cy="4032504"/>
          </a:xfrm>
          <a:prstGeom prst="rect">
            <a:avLst/>
          </a:prstGeom>
          <a:noFill/>
          <a:ln w="12700">
            <a:solidFill>
              <a:srgbClr val="D9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MULTI-AGENT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五智能体资源生产：有状态、可返工、可恢复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薄弱点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56231" y="1801368"/>
            <a:ext cx="155449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3911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路径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73552" y="1801368"/>
            <a:ext cx="15544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5643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课程证据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90872" y="1801368"/>
            <a:ext cx="15544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7375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176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176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质量分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08192" y="1801368"/>
            <a:ext cx="15544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9107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B6257"/>
                </a:solidFill>
                <a:latin typeface="PingFang SC"/>
              </a:rPr>
              <a:t>审核建议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教师决策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2404872"/>
            <a:ext cx="5212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DB6257"/>
                </a:solidFill>
                <a:latin typeface="PingFang SC"/>
              </a:rPr>
              <a:t>score &lt; 7  →  revision（最多 3 次）</a:t>
            </a:r>
          </a:p>
        </p:txBody>
      </p:sp>
      <p:pic>
        <p:nvPicPr>
          <p:cNvPr id="28" name="Picture 27" descr="teacher-agent-workbench.png"/>
          <p:cNvPicPr>
            <a:picLocks noChangeAspect="1"/>
          </p:cNvPicPr>
          <p:nvPr/>
        </p:nvPicPr>
        <p:blipFill>
          <a:blip r:embed="rId2"/>
          <a:srcRect t="25138" b="25138"/>
          <a:stretch>
            <a:fillRect/>
          </a:stretch>
        </p:blipFill>
        <p:spPr>
          <a:xfrm>
            <a:off x="621792" y="2816352"/>
            <a:ext cx="10945368" cy="340156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21792" y="2816352"/>
            <a:ext cx="10945368" cy="3401568"/>
          </a:xfrm>
          <a:prstGeom prst="rect">
            <a:avLst/>
          </a:prstGeom>
          <a:noFill/>
          <a:ln w="12700">
            <a:solidFill>
              <a:srgbClr val="D9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PROFILE TO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12 维画像驱动动态学习路径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53312"/>
            <a:ext cx="525780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自然语言候选 → 学生确认 → 原子更新 → 前后快照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1353312"/>
            <a:ext cx="534924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PingFang SC"/>
              </a:rPr>
              <a:t>知识层级 + 前置关系 + 掌握度 → 当前学习点与资源建议</a:t>
            </a:r>
          </a:p>
        </p:txBody>
      </p:sp>
      <p:pic>
        <p:nvPicPr>
          <p:cNvPr id="10" name="Picture 9" descr="student-profile.png"/>
          <p:cNvPicPr>
            <a:picLocks noChangeAspect="1"/>
          </p:cNvPicPr>
          <p:nvPr/>
        </p:nvPicPr>
        <p:blipFill>
          <a:blip r:embed="rId2"/>
          <a:srcRect l="15573" r="15573"/>
          <a:stretch>
            <a:fillRect/>
          </a:stretch>
        </p:blipFill>
        <p:spPr>
          <a:xfrm>
            <a:off x="621792" y="1783080"/>
            <a:ext cx="5394960" cy="44074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" y="1783080"/>
            <a:ext cx="5394960" cy="4407408"/>
          </a:xfrm>
          <a:prstGeom prst="rect">
            <a:avLst/>
          </a:prstGeom>
          <a:noFill/>
          <a:ln w="12700">
            <a:solidFill>
              <a:srgbClr val="D9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udent-learning-path.pn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172200" y="1783080"/>
            <a:ext cx="5394960" cy="440740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1783080"/>
            <a:ext cx="5394960" cy="4407408"/>
          </a:xfrm>
          <a:prstGeom prst="rect">
            <a:avLst/>
          </a:prstGeom>
          <a:noFill/>
          <a:ln w="12700">
            <a:solidFill>
              <a:srgbClr val="D9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CONVERSATIONAL 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Tutor：问题驱动的课程证据与工具协同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26464"/>
            <a:ext cx="3154680" cy="4773168"/>
          </a:xfrm>
          <a:prstGeom prst="roundRect">
            <a:avLst/>
          </a:prstGeom>
          <a:solidFill>
            <a:srgbClr val="17202A"/>
          </a:solidFill>
          <a:ln w="12700"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37360"/>
            <a:ext cx="25603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DE2D8"/>
                </a:solidFill>
                <a:latin typeface="PingFang SC"/>
              </a:rPr>
              <a:t>示例问题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39696"/>
            <a:ext cx="2487168" cy="10972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ingFang SC"/>
              </a:rPr>
              <a:t>用银行转账解释原子性和隔离性的区别，再给我 2 道判断题。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65760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D6E0E8"/>
                </a:solidFill>
                <a:latin typeface="PingFang SC"/>
              </a:defRPr>
            </a:pPr>
            <a:r>
              <a:rPr sz="1200">
                <a:solidFill>
                  <a:srgbClr val="D6E0E8"/>
                </a:solidFill>
                <a:latin typeface="PingFang SC"/>
              </a:rPr>
              <a:t>●  课程检索</a:t>
            </a:r>
          </a:p>
          <a:p>
            <a:pPr>
              <a:spcAft>
                <a:spcPts val="1000"/>
              </a:spcAft>
              <a:defRPr sz="1200">
                <a:solidFill>
                  <a:srgbClr val="D6E0E8"/>
                </a:solidFill>
                <a:latin typeface="PingFang SC"/>
              </a:defRPr>
            </a:pPr>
            <a:r>
              <a:rPr sz="1200">
                <a:solidFill>
                  <a:srgbClr val="D6E0E8"/>
                </a:solidFill>
                <a:latin typeface="PingFang SC"/>
              </a:rPr>
              <a:t>●  证据讲解</a:t>
            </a:r>
          </a:p>
          <a:p>
            <a:pPr>
              <a:spcAft>
                <a:spcPts val="1000"/>
              </a:spcAft>
              <a:defRPr sz="1200">
                <a:solidFill>
                  <a:srgbClr val="D6E0E8"/>
                </a:solidFill>
                <a:latin typeface="PingFang SC"/>
              </a:defRPr>
            </a:pPr>
            <a:r>
              <a:rPr sz="1200">
                <a:solidFill>
                  <a:srgbClr val="D6E0E8"/>
                </a:solidFill>
                <a:latin typeface="PingFang SC"/>
              </a:rPr>
              <a:t>●  题型/题量约束</a:t>
            </a:r>
          </a:p>
          <a:p>
            <a:pPr>
              <a:spcAft>
                <a:spcPts val="1000"/>
              </a:spcAft>
              <a:defRPr sz="1200">
                <a:solidFill>
                  <a:srgbClr val="D6E0E8"/>
                </a:solidFill>
                <a:latin typeface="PingFang SC"/>
              </a:defRPr>
            </a:pPr>
            <a:r>
              <a:rPr sz="1200">
                <a:solidFill>
                  <a:srgbClr val="D6E0E8"/>
                </a:solidFill>
                <a:latin typeface="PingFang SC"/>
              </a:rPr>
              <a:t>●  SSE 会话与反馈落库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577840"/>
            <a:ext cx="2514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8DE2D8"/>
                </a:solidFill>
                <a:latin typeface="PingFang SC"/>
              </a:rPr>
              <a:t>Provider 无 tool calling → 确定性降级路由</a:t>
            </a:r>
          </a:p>
        </p:txBody>
      </p:sp>
      <p:pic>
        <p:nvPicPr>
          <p:cNvPr id="13" name="Picture 12" descr="student-tutor.png"/>
          <p:cNvPicPr>
            <a:picLocks noChangeAspect="1"/>
          </p:cNvPicPr>
          <p:nvPr/>
        </p:nvPicPr>
        <p:blipFill>
          <a:blip r:embed="rId2"/>
          <a:srcRect l="491" r="491"/>
          <a:stretch>
            <a:fillRect/>
          </a:stretch>
        </p:blipFill>
        <p:spPr>
          <a:xfrm>
            <a:off x="4005072" y="1426464"/>
            <a:ext cx="7562088" cy="47731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05072" y="1426464"/>
            <a:ext cx="7562088" cy="4773168"/>
          </a:xfrm>
          <a:prstGeom prst="rect">
            <a:avLst/>
          </a:prstGeom>
          <a:noFill/>
          <a:ln w="12700">
            <a:solidFill>
              <a:srgbClr val="D9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LEARNING OUTCOME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学习效果闭环：一次行为改变后续路径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PingFang SC"/>
              </a:rPr>
              <a:t>学习行为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任务 / 资源 / Tutor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56231" y="1801368"/>
            <a:ext cx="155449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3911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PingFang SC"/>
              </a:rPr>
              <a:t>结构反馈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测验 / 自评 / 疑问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73552" y="1801368"/>
            <a:ext cx="15544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5643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画像更新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知识点掌握度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90872" y="1801368"/>
            <a:ext cx="15544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73752" y="1444752"/>
            <a:ext cx="1234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1768" y="1536192"/>
            <a:ext cx="97840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</a:rPr>
              <a:t>重新推荐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1768" y="1801368"/>
            <a:ext cx="978408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7080"/>
                </a:solidFill>
                <a:latin typeface="PingFang SC"/>
              </a:rPr>
              <a:t>路径与资源重排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572768"/>
            <a:ext cx="46634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DB6257"/>
                </a:solidFill>
                <a:latin typeface="PingFang SC"/>
              </a:rPr>
              <a:t>学生进度独立 · 只见 approved 资源 · 不能修改他人数据</a:t>
            </a:r>
          </a:p>
        </p:txBody>
      </p:sp>
      <p:pic>
        <p:nvPicPr>
          <p:cNvPr id="24" name="Picture 23" descr="student-feedback.png"/>
          <p:cNvPicPr>
            <a:picLocks noChangeAspect="1"/>
          </p:cNvPicPr>
          <p:nvPr/>
        </p:nvPicPr>
        <p:blipFill>
          <a:blip r:embed="rId2"/>
          <a:srcRect t="21596" b="21596"/>
          <a:stretch>
            <a:fillRect/>
          </a:stretch>
        </p:blipFill>
        <p:spPr>
          <a:xfrm>
            <a:off x="621792" y="2331720"/>
            <a:ext cx="10945368" cy="38862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1792" y="2331720"/>
            <a:ext cx="10945368" cy="3886200"/>
          </a:xfrm>
          <a:prstGeom prst="rect">
            <a:avLst/>
          </a:prstGeom>
          <a:noFill/>
          <a:ln w="12700">
            <a:solidFill>
              <a:srgbClr val="D9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GOVERNANCE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管理员治理：模型能力可配置、可限额、可追责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81328"/>
            <a:ext cx="5257800" cy="1572768"/>
          </a:xfrm>
          <a:prstGeom prst="roundRect">
            <a:avLst/>
          </a:prstGeom>
          <a:solidFill>
            <a:srgbClr val="DDF4F0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2011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PingFang SC"/>
              </a:rPr>
              <a:t>模型与凭证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466344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B37"/>
                </a:solidFill>
                <a:latin typeface="PingFang SC"/>
              </a:rPr>
              <a:t>Provider / Model / Prompt
AES-GCM 加密，不回显明文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81328"/>
            <a:ext cx="5257800" cy="157276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82496"/>
            <a:ext cx="2011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PingFang SC"/>
              </a:rPr>
              <a:t>成本与性能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39696"/>
            <a:ext cx="466344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B37"/>
                </a:solidFill>
                <a:latin typeface="PingFang SC"/>
              </a:rPr>
              <a:t>Token / 耗时 / 成本
预算阈值与失败原因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93008"/>
            <a:ext cx="5257800" cy="1572768"/>
          </a:xfrm>
          <a:prstGeom prst="roundRect">
            <a:avLst/>
          </a:prstGeom>
          <a:solidFill>
            <a:srgbClr val="FCE9E6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2011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DB6257"/>
                </a:solidFill>
                <a:latin typeface="PingFang SC"/>
              </a:rPr>
              <a:t>内容安全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51376"/>
            <a:ext cx="466344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B37"/>
                </a:solidFill>
                <a:latin typeface="PingFang SC"/>
              </a:rPr>
              <a:t>输入 / 输出 / 工具参数
注入与凭证暴露双检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93008"/>
            <a:ext cx="5257800" cy="1572768"/>
          </a:xfrm>
          <a:prstGeom prst="roundRect">
            <a:avLst/>
          </a:prstGeom>
          <a:solidFill>
            <a:srgbClr val="E8EDF1"/>
          </a:solidFill>
          <a:ln w="12700">
            <a:solidFill>
              <a:srgbClr val="5B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694176"/>
            <a:ext cx="2011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B6472"/>
                </a:solidFill>
                <a:latin typeface="PingFang SC"/>
              </a:rPr>
              <a:t>操作审计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51376"/>
            <a:ext cx="466344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B37"/>
                </a:solidFill>
                <a:latin typeface="PingFang SC"/>
              </a:rPr>
              <a:t>登录 / 审核 / 策略变更
角色、对象、结果可追踪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614416"/>
            <a:ext cx="10927080" cy="502920"/>
          </a:xfrm>
          <a:prstGeom prst="roundRect">
            <a:avLst/>
          </a:prstGeom>
          <a:solidFill>
            <a:srgbClr val="17202A"/>
          </a:solidFill>
          <a:ln w="12700"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751576"/>
            <a:ext cx="1046988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生产环境强制真实 Provider · 强密钥 · 非通配 CORS · 禁止 Mock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Aptos"/>
              </a:rPr>
              <a:t>ENGINEERING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"/>
            <a:ext cx="107899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7202A"/>
                </a:solidFill>
                <a:latin typeface="PingFang SC"/>
              </a:rPr>
              <a:t>工程验证结果来自测试、构建和真实运行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225296"/>
            <a:ext cx="11000232" cy="0"/>
          </a:xfrm>
          <a:prstGeom prst="line">
            <a:avLst/>
          </a:prstGeom>
          <a:ln w="1270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28816"/>
            <a:ext cx="3474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07080"/>
                </a:solidFill>
                <a:latin typeface="Aptos"/>
              </a:rPr>
              <a:t>EduAgent Studio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07080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36192"/>
            <a:ext cx="248716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2487168" cy="6217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F766E"/>
                </a:solidFill>
                <a:latin typeface="Aptos"/>
              </a:rPr>
              <a:t>271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248716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607080"/>
                </a:solidFill>
                <a:latin typeface="PingFang SC"/>
              </a:rPr>
              <a:t>后端测试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36192"/>
            <a:ext cx="248716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755648"/>
            <a:ext cx="2487168" cy="6217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2563EB"/>
                </a:solidFill>
                <a:latin typeface="Aptos"/>
              </a:rPr>
              <a:t>9/9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248716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607080"/>
                </a:solidFill>
                <a:latin typeface="PingFang SC"/>
              </a:rPr>
              <a:t>课程主题召回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536192"/>
            <a:ext cx="248716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755648"/>
            <a:ext cx="2487168" cy="6217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DB6257"/>
                </a:solidFill>
                <a:latin typeface="Aptos"/>
              </a:rPr>
              <a:t>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487168"/>
            <a:ext cx="248716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607080"/>
                </a:solidFill>
                <a:latin typeface="PingFang SC"/>
              </a:rPr>
              <a:t>三角色主路由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536192"/>
            <a:ext cx="248716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755648"/>
            <a:ext cx="2487168" cy="6217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475569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487168"/>
            <a:ext cx="248716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607080"/>
                </a:solidFill>
                <a:latin typeface="PingFang SC"/>
              </a:rPr>
              <a:t>npm 生产漏洞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82880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02A"/>
                </a:solidFill>
                <a:latin typeface="PingFang SC"/>
              </a:rPr>
              <a:t>响应式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3675887"/>
            <a:ext cx="8046720" cy="347472"/>
          </a:xfrm>
          <a:prstGeom prst="roundRect">
            <a:avLst/>
          </a:prstGeom>
          <a:solidFill>
            <a:srgbClr val="E7EDF0"/>
          </a:solidFill>
          <a:ln w="12700">
            <a:solidFill>
              <a:srgbClr val="E7E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40" y="3739896"/>
            <a:ext cx="7726679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07080"/>
                </a:solidFill>
                <a:latin typeface="PingFang SC"/>
              </a:rPr>
              <a:t>390 × 844 / 1024 / 1440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24528"/>
            <a:ext cx="182880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02A"/>
                </a:solidFill>
                <a:latin typeface="PingFang SC"/>
              </a:rPr>
              <a:t>前端门禁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80360" y="4197096"/>
            <a:ext cx="8046720" cy="347472"/>
          </a:xfrm>
          <a:prstGeom prst="roundRect">
            <a:avLst/>
          </a:prstGeom>
          <a:solidFill>
            <a:srgbClr val="E7EDF0"/>
          </a:solidFill>
          <a:ln w="12700">
            <a:solidFill>
              <a:srgbClr val="E7E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40" y="4261104"/>
            <a:ext cx="7726679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07080"/>
                </a:solidFill>
                <a:latin typeface="PingFang SC"/>
              </a:rPr>
              <a:t>TypeScript + Vite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45736"/>
            <a:ext cx="182880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02A"/>
                </a:solidFill>
                <a:latin typeface="PingFang SC"/>
              </a:rPr>
              <a:t>依赖一致性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4718303"/>
            <a:ext cx="8046720" cy="347472"/>
          </a:xfrm>
          <a:prstGeom prst="roundRect">
            <a:avLst/>
          </a:prstGeom>
          <a:solidFill>
            <a:srgbClr val="E7EDF0"/>
          </a:solidFill>
          <a:ln w="12700">
            <a:solidFill>
              <a:srgbClr val="E7E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63240" y="4782312"/>
            <a:ext cx="7726679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07080"/>
                </a:solidFill>
                <a:latin typeface="PingFang SC"/>
              </a:rPr>
              <a:t>npm audit 0 / pip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266944"/>
            <a:ext cx="182880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02A"/>
                </a:solidFill>
                <a:latin typeface="PingFang SC"/>
              </a:rPr>
              <a:t>运行健康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360" y="5239512"/>
            <a:ext cx="8046720" cy="347472"/>
          </a:xfrm>
          <a:prstGeom prst="roundRect">
            <a:avLst/>
          </a:prstGeom>
          <a:solidFill>
            <a:srgbClr val="E7EDF0"/>
          </a:solidFill>
          <a:ln w="12700">
            <a:solidFill>
              <a:srgbClr val="E7E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63240" y="5303520"/>
            <a:ext cx="7726679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07080"/>
                </a:solidFill>
                <a:latin typeface="PingFang SC"/>
              </a:rPr>
              <a:t>API + MySQL + Redis + Web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31520"/>
            <a:ext cx="475488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PingFang SC"/>
              </a:rPr>
              <a:t>让 AI 教学从“生成一次”
变成“持续闭环”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23160"/>
            <a:ext cx="5074920" cy="621792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2606040"/>
            <a:ext cx="45720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2587752"/>
            <a:ext cx="4069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学生确认的 12 维画像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423160"/>
            <a:ext cx="5074920" cy="621792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28232" y="2606040"/>
            <a:ext cx="45720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B6257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76872" y="2587752"/>
            <a:ext cx="4069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真实 chunk 与知识点证据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5074920" cy="621792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447288"/>
            <a:ext cx="45720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429000"/>
            <a:ext cx="4069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有状态多智能体与质量返工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264408"/>
            <a:ext cx="5074920" cy="621792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447288"/>
            <a:ext cx="45720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B6257"/>
                </a:solidFill>
                <a:latin typeface="Apto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6872" y="3429000"/>
            <a:ext cx="4069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对话入口 + 专业工作台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05656"/>
            <a:ext cx="5074920" cy="621792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288536"/>
            <a:ext cx="45720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4270248"/>
            <a:ext cx="4069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教师保留最终发布决策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05656"/>
            <a:ext cx="5074920" cy="621792"/>
          </a:xfrm>
          <a:prstGeom prst="roundRect">
            <a:avLst/>
          </a:prstGeom>
          <a:solidFill>
            <a:srgbClr val="253241"/>
          </a:solidFill>
          <a:ln w="12700">
            <a:solidFill>
              <a:srgbClr val="DB6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288536"/>
            <a:ext cx="45720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B6257"/>
                </a:solidFill>
                <a:latin typeface="Aptos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4270248"/>
            <a:ext cx="40690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成本、安全与操作统一审计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30952"/>
            <a:ext cx="12801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DE2D8"/>
                </a:solidFill>
                <a:latin typeface="PingFang SC"/>
              </a:rPr>
              <a:t>交付边界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285232"/>
            <a:ext cx="914400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CAD6DE"/>
                </a:solidFill>
                <a:latin typeface="PingFang SC"/>
              </a:rPr>
              <a:t>讯飞真实能力需有效凭证联调；最终 MP4 按当前脚本录制；pip-audit 需在具备工具的环境执行。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99632"/>
            <a:ext cx="3840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192A1"/>
                </a:solidFill>
                <a:latin typeface="Aptos"/>
              </a:rPr>
              <a:t>EduAgent Studio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智学工坊 EduAgent Studio 参赛演示</dc:title>
  <dc:subject>中国软件杯 A3 赛题</dc:subject>
  <dc:creator>EduAgent Studio 参赛团队</dc:creator>
  <cp:keywords>EduAgent Studio, A3, 多智能体, 个性化学习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